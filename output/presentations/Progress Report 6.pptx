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05bec673234d67" /><Relationship Type="http://schemas.openxmlformats.org/officeDocument/2006/relationships/extended-properties" Target="/docProps/app.xml" Id="R26fbaeb55a47425e" /><Relationship Type="http://schemas.openxmlformats.org/officeDocument/2006/relationships/officeDocument" Target="/ppt/presentation.xml" Id="R78b2d6e1e4c042ec" /></Relationships>
</file>

<file path=ppt/presentation.xml><?xml version="1.0" encoding="utf-8"?>
<p:presentation xmlns:p="http://schemas.openxmlformats.org/presentationml/2006/main">
  <p:sldMasterIdLst>
    <p:sldMasterId xmlns:r="http://schemas.openxmlformats.org/officeDocument/2006/relationships" id="2147483648" r:id="R2c3b8f19c52347ae"/>
  </p:sldMasterIdLst>
  <p:notesMasterIdLst>
    <p:notesMasterId xmlns:r="http://schemas.openxmlformats.org/officeDocument/2006/relationships" r:id="R3878e5d1ecaf4271"/>
  </p:notesMasterIdLst>
  <p:sldIdLst>
    <p:sldId xmlns:r="http://schemas.openxmlformats.org/officeDocument/2006/relationships" id="256" r:id="Re9dffcd1b88244d3"/>
    <p:sldId xmlns:r="http://schemas.openxmlformats.org/officeDocument/2006/relationships" id="257" r:id="Re6ed4c83cee94a8b"/>
    <p:sldId xmlns:r="http://schemas.openxmlformats.org/officeDocument/2006/relationships" id="258" r:id="R97a6de88b74a4ff5"/>
    <p:sldId xmlns:r="http://schemas.openxmlformats.org/officeDocument/2006/relationships" id="259" r:id="R58af964850004cf3"/>
    <p:sldId xmlns:r="http://schemas.openxmlformats.org/officeDocument/2006/relationships" id="260" r:id="R1c1f13efe0f64071"/>
    <p:sldId xmlns:r="http://schemas.openxmlformats.org/officeDocument/2006/relationships" id="261" r:id="R9ccec9fc66004ce8"/>
    <p:sldId xmlns:r="http://schemas.openxmlformats.org/officeDocument/2006/relationships" id="262" r:id="Re9b3d5e9c3634a0a"/>
    <p:sldId xmlns:r="http://schemas.openxmlformats.org/officeDocument/2006/relationships" id="263" r:id="R37366120bce949e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a4310484d741cd" /><Relationship Type="http://schemas.openxmlformats.org/officeDocument/2006/relationships/slideMaster" Target="/ppt/slideMasters/slideMaster1.xml" Id="R2c3b8f19c52347ae" /><Relationship Type="http://schemas.openxmlformats.org/officeDocument/2006/relationships/notesMaster" Target="/ppt/notesMasters/notesMaster1.xml" Id="R3878e5d1ecaf4271" /><Relationship Type="http://schemas.openxmlformats.org/officeDocument/2006/relationships/presProps" Target="/ppt/presProps.xml" Id="Re0fcf10ed600416b" /><Relationship Type="http://schemas.openxmlformats.org/officeDocument/2006/relationships/tableStyles" Target="/ppt/tableStyles.xml" Id="Ra2a8ed5eec7a4dbb" /><Relationship Type="http://schemas.openxmlformats.org/officeDocument/2006/relationships/slide" Target="/ppt/slides/slide1.xml" Id="Re9dffcd1b88244d3" /><Relationship Type="http://schemas.openxmlformats.org/officeDocument/2006/relationships/slide" Target="/ppt/slides/slide2.xml" Id="Re6ed4c83cee94a8b" /><Relationship Type="http://schemas.openxmlformats.org/officeDocument/2006/relationships/slide" Target="/ppt/slides/slide3.xml" Id="R97a6de88b74a4ff5" /><Relationship Type="http://schemas.openxmlformats.org/officeDocument/2006/relationships/slide" Target="/ppt/slides/slide4.xml" Id="R58af964850004cf3" /><Relationship Type="http://schemas.openxmlformats.org/officeDocument/2006/relationships/slide" Target="/ppt/slides/slide5.xml" Id="R1c1f13efe0f64071" /><Relationship Type="http://schemas.openxmlformats.org/officeDocument/2006/relationships/slide" Target="/ppt/slides/slide6.xml" Id="R9ccec9fc66004ce8" /><Relationship Type="http://schemas.openxmlformats.org/officeDocument/2006/relationships/slide" Target="/ppt/slides/slide7.xml" Id="Re9b3d5e9c3634a0a" /><Relationship Type="http://schemas.openxmlformats.org/officeDocument/2006/relationships/slide" Target="/ppt/slides/slide8.xml" Id="R37366120bce949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32c8fc076542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3bae8ac90f4106" /><Relationship Type="http://schemas.openxmlformats.org/officeDocument/2006/relationships/notesMaster" Target="/ppt/notesMasters/notesMaster1.xml" Id="R04dfd22704ca47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86f06b2e0b4d69" /><Relationship Type="http://schemas.openxmlformats.org/officeDocument/2006/relationships/notesMaster" Target="/ppt/notesMasters/notesMaster1.xml" Id="Radfa51eea68f40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718cce19154006" /><Relationship Type="http://schemas.openxmlformats.org/officeDocument/2006/relationships/notesMaster" Target="/ppt/notesMasters/notesMaster1.xml" Id="R3cb7ae021f2c4a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e151d024be4c78" /><Relationship Type="http://schemas.openxmlformats.org/officeDocument/2006/relationships/notesMaster" Target="/ppt/notesMasters/notesMaster1.xml" Id="Rb58ca579d7e543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4a5de48e284065" /><Relationship Type="http://schemas.openxmlformats.org/officeDocument/2006/relationships/notesMaster" Target="/ppt/notesMasters/notesMaster1.xml" Id="Rac190490536f40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03540ecfe94daf" /><Relationship Type="http://schemas.openxmlformats.org/officeDocument/2006/relationships/notesMaster" Target="/ppt/notesMasters/notesMaster1.xml" Id="R60de5ae3e26144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27d2b8ac414755" /><Relationship Type="http://schemas.openxmlformats.org/officeDocument/2006/relationships/notesMaster" Target="/ppt/notesMasters/notesMaster1.xml" Id="R36f6336d638a43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1905dd1bd74cf1" /><Relationship Type="http://schemas.openxmlformats.org/officeDocument/2006/relationships/notesMaster" Target="/ppt/notesMasters/notesMaster1.xml" Id="R0cafabfdb87c48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6 progress update. Design reference: C:/Users/nabil/Downloads/Capstone Project (1).pdf, pages 32–43.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C:/Users/nabil/Desktop/Scout DB/nearest_neighbors.py and api.py. NearestNeighbors uses its default Euclidean distance (Minkowski p=2). StandardScaler fits on eligible historical rows; equal weighting means equal coefficients after scaling. Exclude the selected player’s own earlier seasons using IDs. On-demand processing is a design choice; precomputing 3,000 players is possible, not inherently infeasible.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computed from local players/players_midfield.csv and players/players_attack.csv for the named 2025-26 query rows. Filters: matching tm_sub_position, earlier season, minutes &gt;=450, exclude selected tm_player_id and understat_player_id. Unique players use the same ID fallback as nearest_neighbors.py. Before query-player exclusions, CAM has 1,327 rows / 368 players. These are example query counts, not an average across every player or season.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C:/Users/nabil/Desktop/Scout DB/nearest_neighbors.py and web/src/App.jsx. Current implementation uses mean of raw next-season feature values, not median, a weighted mean or mean development changes. Age and height are excluded from forecast outputs. The local prototype is qualitative evidence only; no aggregate forecast-accuracy result has been established. This implementation updates the median plan shown in the previous progress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http://127.0.0.1:5174/. Search for a player, select Get Report, show the five historical matches, current-season stats, next-season outlook and ranked similarity graph. Try Ollie Watkins or Declan Rice, then contrast with Erling Haaland.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concerns reported by the presenter during prototype use, not a completed accuracy study. Distances aggregate scaled feature differences across many dimensions; a distance of 3.5 is not a one-variable 3.5-standard-deviation outlier score. Trajectory adjustment and Ridge Regression are proposed future work, not implemented. Ridge learns regularized prediction coefficients; those coefficients are not automatically suitable as KNN distance weights. The finishing_expected feature should be audited for definition, exposure and volatility.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reminder: C:/Users/nabil/Downloads/Capstone Project (1).pdf, pages 38–39. Storage design and the qualitative ranking review reflect the presenter’s update. No percentile implementation or new percentile columns were supplied in this local project snapshot. Recompute saved ranks when source data, cohort membership or scoring rules change. Exact league rules, minimum minutes and final weights require confirmation from the percentile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based on the agreed team-to-team style plan in C:/Users/nabil/Downloads/Capstone Project (1).pdf, page 42. Teammate implementation and results were not supplied. The method here is the proposed approach and must be reconciled with the team’s actual code. Avoid claiming a specific similarity metric or completed validation until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3fbb51195a49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7ffd68f10949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72ce26423642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b33890f6674d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a0e897b20e4e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105c6565034b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123CFC-B4F6-4BC4-9FBC-E0CD7E98C4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971648-A980-41BF-B5B6-1279ADB30F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BB3974-DF23-4EE5-AA8E-8A8CE6BC9C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EC877-A6AE-431C-8CAC-418841F3A2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727B25-FAF2-4E42-B61D-82C8A410F5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C11F8B-71CC-49E7-814F-B3DF66B4FE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F82AD4-0A0F-4DF8-A451-CEFA69B8C4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5A7B4E-4017-45EA-92FC-893913B907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10E720-EA08-49AD-AACE-C989AE857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B8144E-A636-4AFD-8C12-BBCEC407A9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849271182e4931" /><Relationship Type="http://schemas.openxmlformats.org/officeDocument/2006/relationships/slideLayout" Target="/ppt/slideLayouts/slideLayout1.xml" Id="R46d7524343524fef" /><Relationship Type="http://schemas.openxmlformats.org/officeDocument/2006/relationships/slideLayout" Target="/ppt/slideLayouts/slideLayout2.xml" Id="R1769b4046ce4448c" /><Relationship Type="http://schemas.openxmlformats.org/officeDocument/2006/relationships/slideLayout" Target="/ppt/slideLayouts/slideLayout3.xml" Id="R39e44f230ef14bd9" /><Relationship Type="http://schemas.openxmlformats.org/officeDocument/2006/relationships/slideLayout" Target="/ppt/slideLayouts/slideLayout4.xml" Id="Rf9875da5ce4748c8" /><Relationship Type="http://schemas.openxmlformats.org/officeDocument/2006/relationships/slideLayout" Target="/ppt/slideLayouts/slideLayout5.xml" Id="Rca8a274927f14036" /><Relationship Type="http://schemas.openxmlformats.org/officeDocument/2006/relationships/slideLayout" Target="/ppt/slideLayouts/slideLayout6.xml" Id="R31bd0e871d3646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d7524343524fef"/>
    <p:sldLayoutId xmlns:r="http://schemas.openxmlformats.org/officeDocument/2006/relationships" id="2147483650" r:id="R1769b4046ce4448c"/>
    <p:sldLayoutId xmlns:r="http://schemas.openxmlformats.org/officeDocument/2006/relationships" id="2147483651" r:id="R39e44f230ef14bd9"/>
    <p:sldLayoutId xmlns:r="http://schemas.openxmlformats.org/officeDocument/2006/relationships" id="2147483652" r:id="Rf9875da5ce4748c8"/>
    <p:sldLayoutId xmlns:r="http://schemas.openxmlformats.org/officeDocument/2006/relationships" id="2147483653" r:id="Rca8a274927f14036"/>
    <p:sldLayoutId xmlns:r="http://schemas.openxmlformats.org/officeDocument/2006/relationships" id="2147483654" r:id="R31bd0e871d3646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6ea74070184d80" /><Relationship Type="http://schemas.openxmlformats.org/officeDocument/2006/relationships/notesSlide" Target="/ppt/notesSlides/notesSlide1.xml" Id="Rcd92dde94c6843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1151e6a1194871" /><Relationship Type="http://schemas.openxmlformats.org/officeDocument/2006/relationships/notesSlide" Target="/ppt/notesSlides/notesSlide2.xml" Id="Rcda3b7e2d9f94b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27d0e486614652" /><Relationship Type="http://schemas.openxmlformats.org/officeDocument/2006/relationships/notesSlide" Target="/ppt/notesSlides/notesSlide3.xml" Id="Rb24737d2229847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d479d3404043b9" /><Relationship Type="http://schemas.openxmlformats.org/officeDocument/2006/relationships/notesSlide" Target="/ppt/notesSlides/notesSlide4.xml" Id="R6c3569d145754f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af77e01d4ea49cb" /><Relationship Type="http://schemas.openxmlformats.org/officeDocument/2006/relationships/notesSlide" Target="/ppt/notesSlides/notesSlide5.xml" Id="R5d8981b2b6b543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dd3870708f45da" /><Relationship Type="http://schemas.openxmlformats.org/officeDocument/2006/relationships/notesSlide" Target="/ppt/notesSlides/notesSlide6.xml" Id="R8a70dd605e6342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792deab0344eef" /><Relationship Type="http://schemas.openxmlformats.org/officeDocument/2006/relationships/notesSlide" Target="/ppt/notesSlides/notesSlide7.xml" Id="R76309c37541244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c5a70cb6e24081" /><Relationship Type="http://schemas.openxmlformats.org/officeDocument/2006/relationships/notesSlide" Target="/ppt/notesSlides/notesSlide8.xml" Id="R06322227ffb343d1" /></Relationships>
</file>

<file path=ppt/slides/slide1.xml><?xml version="1.0" encoding="utf-8"?>
<p:sld xmlns:p="http://schemas.openxmlformats.org/presentationml/2006/main">
  <p:cSld>
    <p:bg>
      <p:bgPr>
        <a:solidFill xmlns:a="http://schemas.openxmlformats.org/drawingml/2006/main">
          <a:srgbClr val="05356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C71821-A21D-4E08-9C93-E2388257A2C8}"/>
              </a:ext>
            </a:extLst>
          </p:cNvPr>
          <p:cNvSpPr>
            <a:spLocks xmlns:a="http://schemas.openxmlformats.org/drawingml/2006/main" noGrp="1"/>
          </p:cNvSpPr>
          <p:nvPr/>
        </p:nvSpPr>
        <p:spPr>
          <a:xfrm xmlns:a="http://schemas.openxmlformats.org/drawingml/2006/main">
            <a:off x="952500" y="144780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1">
                <a:solidFill>
                  <a:srgbClr val="F6FCCB"/>
                </a:solidFill>
                <a:latin typeface="Arial"/>
                <a:ea typeface="Arial"/>
                <a:cs typeface="Arial"/>
              </a:defRPr>
            </a:defPPr>
            <a:lvl1pPr algn="ctr">
              <a:defRPr sz="2850" b="1">
                <a:solidFill>
                  <a:srgbClr val="F6FCCB"/>
                </a:solidFill>
                <a:latin typeface="Arial"/>
                <a:ea typeface="Arial"/>
                <a:cs typeface="Arial"/>
              </a:defRPr>
            </a:lvl1pPr>
            <a:lvl2pPr algn="ctr">
              <a:defRPr sz="2850" b="1">
                <a:solidFill>
                  <a:srgbClr val="F6FCCB"/>
                </a:solidFill>
                <a:latin typeface="Arial"/>
                <a:ea typeface="Arial"/>
                <a:cs typeface="Arial"/>
              </a:defRPr>
            </a:lvl2pPr>
            <a:lvl3pPr algn="ctr">
              <a:defRPr sz="2850" b="1">
                <a:solidFill>
                  <a:srgbClr val="F6FCCB"/>
                </a:solidFill>
                <a:latin typeface="Arial"/>
                <a:ea typeface="Arial"/>
                <a:cs typeface="Arial"/>
              </a:defRPr>
            </a:lvl3pPr>
            <a:lvl4pPr algn="ctr">
              <a:defRPr sz="2850" b="1">
                <a:solidFill>
                  <a:srgbClr val="F6FCCB"/>
                </a:solidFill>
                <a:latin typeface="Arial"/>
                <a:ea typeface="Arial"/>
                <a:cs typeface="Arial"/>
              </a:defRPr>
            </a:lvl4pPr>
            <a:lvl5pPr algn="ctr">
              <a:defRPr sz="2850" b="1">
                <a:solidFill>
                  <a:srgbClr val="F6FCCB"/>
                </a:solidFill>
                <a:latin typeface="Arial"/>
                <a:ea typeface="Arial"/>
                <a:cs typeface="Arial"/>
              </a:defRPr>
            </a:lvl5pPr>
            <a:lvl6pPr algn="ctr">
              <a:defRPr sz="2850" b="1">
                <a:solidFill>
                  <a:srgbClr val="F6FCCB"/>
                </a:solidFill>
                <a:latin typeface="Arial"/>
                <a:ea typeface="Arial"/>
                <a:cs typeface="Arial"/>
              </a:defRPr>
            </a:lvl6pPr>
            <a:lvl7pPr algn="ctr">
              <a:defRPr sz="2850" b="1">
                <a:solidFill>
                  <a:srgbClr val="F6FCCB"/>
                </a:solidFill>
                <a:latin typeface="Arial"/>
                <a:ea typeface="Arial"/>
                <a:cs typeface="Arial"/>
              </a:defRPr>
            </a:lvl7pPr>
            <a:lvl8pPr algn="ctr">
              <a:defRPr sz="2850" b="1">
                <a:solidFill>
                  <a:srgbClr val="F6FCCB"/>
                </a:solidFill>
                <a:latin typeface="Arial"/>
                <a:ea typeface="Arial"/>
                <a:cs typeface="Arial"/>
              </a:defRPr>
            </a:lvl8pPr>
            <a:lvl9pPr algn="ctr">
              <a:defRPr sz="2850" b="1">
                <a:solidFill>
                  <a:srgbClr val="F6FCCB"/>
                </a:solidFill>
                <a:latin typeface="Arial"/>
                <a:ea typeface="Arial"/>
                <a:cs typeface="Arial"/>
              </a:defRPr>
            </a:lvl9pPr>
          </a:lstStyle>
          <a:p xmlns:a="http://schemas.openxmlformats.org/drawingml/2006/main">
            <a:pPr algn="ctr">
              <a:defRPr sz="2850" b="1">
                <a:solidFill>
                  <a:srgbClr val="F6FCCB"/>
                </a:solidFill>
                <a:latin typeface="Arial"/>
                <a:ea typeface="Arial"/>
                <a:cs typeface="Arial"/>
              </a:defRPr>
            </a:pPr>
            <a:r>
              <a:rPr sz="2850" b="1">
                <a:solidFill>
                  <a:srgbClr val="F6FCCB"/>
                </a:solidFill>
                <a:latin typeface="Arial"/>
                <a:ea typeface="Arial"/>
                <a:cs typeface="Arial"/>
              </a:rPr>
              <a:t>Progress report 6</a:t>
            </a:r>
          </a:p>
        </p:txBody>
      </p:sp>
      <p:sp>
        <p:nvSpPr>
          <p:cNvPr id="3" name="">
            <a:extLst xmlns:a="http://schemas.openxmlformats.org/drawingml/2006/main">
              <a:ext uri="{FF2B5EF4-FFF2-40B4-BE49-F238E27FC236}">
                <a16:creationId xmlns:a16="http://schemas.microsoft.com/office/drawing/2014/main" id="{82D8BF10-9127-47ED-9510-DB6194F60517}"/>
              </a:ext>
            </a:extLst>
          </p:cNvPr>
          <p:cNvSpPr>
            <a:spLocks xmlns:a="http://schemas.openxmlformats.org/drawingml/2006/main" noGrp="1"/>
          </p:cNvSpPr>
          <p:nvPr/>
        </p:nvSpPr>
        <p:spPr>
          <a:xfrm xmlns:a="http://schemas.openxmlformats.org/drawingml/2006/main">
            <a:off x="1924050" y="2400300"/>
            <a:ext cx="5381625" cy="9525"/>
          </a:xfrm>
          <a:prstGeom xmlns:a="http://schemas.openxmlformats.org/drawingml/2006/main" prst="rect">
            <a:avLst/>
          </a:prstGeom>
          <a:solidFill xmlns:a="http://schemas.openxmlformats.org/drawingml/2006/main">
            <a:srgbClr val="14BDD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878902-007E-438D-B2FA-64892D7D240B}"/>
              </a:ext>
            </a:extLst>
          </p:cNvPr>
          <p:cNvSpPr>
            <a:spLocks xmlns:a="http://schemas.openxmlformats.org/drawingml/2006/main" noGrp="1"/>
          </p:cNvSpPr>
          <p:nvPr/>
        </p:nvSpPr>
        <p:spPr>
          <a:xfrm xmlns:a="http://schemas.openxmlformats.org/drawingml/2006/main">
            <a:off x="2190750" y="29241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00" b="1">
                <a:solidFill>
                  <a:srgbClr val="FFFF00"/>
                </a:solidFill>
                <a:latin typeface="Arial"/>
                <a:ea typeface="Arial"/>
                <a:cs typeface="Arial"/>
              </a:defRPr>
            </a:defPPr>
            <a:lvl1pPr algn="ctr">
              <a:defRPr sz="1300" b="1">
                <a:solidFill>
                  <a:srgbClr val="FFFF00"/>
                </a:solidFill>
                <a:latin typeface="Arial"/>
                <a:ea typeface="Arial"/>
                <a:cs typeface="Arial"/>
              </a:defRPr>
            </a:lvl1pPr>
            <a:lvl2pPr algn="ctr">
              <a:defRPr sz="1300" b="1">
                <a:solidFill>
                  <a:srgbClr val="FFFF00"/>
                </a:solidFill>
                <a:latin typeface="Arial"/>
                <a:ea typeface="Arial"/>
                <a:cs typeface="Arial"/>
              </a:defRPr>
            </a:lvl2pPr>
            <a:lvl3pPr algn="ctr">
              <a:defRPr sz="1300" b="1">
                <a:solidFill>
                  <a:srgbClr val="FFFF00"/>
                </a:solidFill>
                <a:latin typeface="Arial"/>
                <a:ea typeface="Arial"/>
                <a:cs typeface="Arial"/>
              </a:defRPr>
            </a:lvl3pPr>
            <a:lvl4pPr algn="ctr">
              <a:defRPr sz="1300" b="1">
                <a:solidFill>
                  <a:srgbClr val="FFFF00"/>
                </a:solidFill>
                <a:latin typeface="Arial"/>
                <a:ea typeface="Arial"/>
                <a:cs typeface="Arial"/>
              </a:defRPr>
            </a:lvl4pPr>
            <a:lvl5pPr algn="ctr">
              <a:defRPr sz="1300" b="1">
                <a:solidFill>
                  <a:srgbClr val="FFFF00"/>
                </a:solidFill>
                <a:latin typeface="Arial"/>
                <a:ea typeface="Arial"/>
                <a:cs typeface="Arial"/>
              </a:defRPr>
            </a:lvl5pPr>
            <a:lvl6pPr algn="ctr">
              <a:defRPr sz="1300" b="1">
                <a:solidFill>
                  <a:srgbClr val="FFFF00"/>
                </a:solidFill>
                <a:latin typeface="Arial"/>
                <a:ea typeface="Arial"/>
                <a:cs typeface="Arial"/>
              </a:defRPr>
            </a:lvl6pPr>
            <a:lvl7pPr algn="ctr">
              <a:defRPr sz="1300" b="1">
                <a:solidFill>
                  <a:srgbClr val="FFFF00"/>
                </a:solidFill>
                <a:latin typeface="Arial"/>
                <a:ea typeface="Arial"/>
                <a:cs typeface="Arial"/>
              </a:defRPr>
            </a:lvl7pPr>
            <a:lvl8pPr algn="ctr">
              <a:defRPr sz="1300" b="1">
                <a:solidFill>
                  <a:srgbClr val="FFFF00"/>
                </a:solidFill>
                <a:latin typeface="Arial"/>
                <a:ea typeface="Arial"/>
                <a:cs typeface="Arial"/>
              </a:defRPr>
            </a:lvl8pPr>
            <a:lvl9pPr algn="ctr">
              <a:defRPr sz="1300" b="1">
                <a:solidFill>
                  <a:srgbClr val="FFFF00"/>
                </a:solidFill>
                <a:latin typeface="Arial"/>
                <a:ea typeface="Arial"/>
                <a:cs typeface="Arial"/>
              </a:defRPr>
            </a:lvl9pPr>
          </a:lstStyle>
          <a:p xmlns:a="http://schemas.openxmlformats.org/drawingml/2006/main">
            <a:pPr algn="ctr">
              <a:defRPr sz="1300" b="1">
                <a:solidFill>
                  <a:srgbClr val="FFFF00"/>
                </a:solidFill>
                <a:latin typeface="Arial"/>
                <a:ea typeface="Arial"/>
                <a:cs typeface="Arial"/>
              </a:defRPr>
            </a:pPr>
            <a:r>
              <a:rPr sz="1300" b="1">
                <a:solidFill>
                  <a:srgbClr val="FFFF00"/>
                </a:solidFill>
                <a:latin typeface="Arial"/>
                <a:ea typeface="Arial"/>
                <a:cs typeface="Arial"/>
              </a:rPr>
              <a:t>Model implementation</a:t>
            </a:r>
          </a:p>
          <a:p xmlns:a="http://schemas.openxmlformats.org/drawingml/2006/main">
            <a:pPr algn="ctr">
              <a:defRPr sz="1300" b="1">
                <a:solidFill>
                  <a:srgbClr val="FFFF00"/>
                </a:solidFill>
                <a:latin typeface="Arial"/>
                <a:ea typeface="Arial"/>
                <a:cs typeface="Arial"/>
              </a:defRPr>
            </a:pPr>
            <a:r>
              <a:rPr sz="1300" b="1">
                <a:solidFill>
                  <a:srgbClr val="FFFF00"/>
                </a:solidFill>
                <a:latin typeface="Arial"/>
                <a:ea typeface="Arial"/>
                <a:cs typeface="Arial"/>
              </a:rPr>
              <a:t>Prototype demonstration</a:t>
            </a:r>
          </a:p>
          <a:p xmlns:a="http://schemas.openxmlformats.org/drawingml/2006/main">
            <a:pPr algn="ctr">
              <a:defRPr sz="1300" b="1">
                <a:solidFill>
                  <a:srgbClr val="FFFF00"/>
                </a:solidFill>
                <a:latin typeface="Arial"/>
                <a:ea typeface="Arial"/>
                <a:cs typeface="Arial"/>
              </a:defRPr>
            </a:pPr>
            <a:r>
              <a:rPr sz="1300" b="1">
                <a:solidFill>
                  <a:srgbClr val="FFFF00"/>
                </a:solidFill>
                <a:latin typeface="Arial"/>
                <a:ea typeface="Arial"/>
                <a:cs typeface="Arial"/>
              </a:rPr>
              <a:t>Next decisions</a:t>
            </a:r>
          </a:p>
        </p:txBody>
      </p:sp>
    </p:spTree>
    <p:extLst>
      <p:ext uri="{BB962C8B-B14F-4D97-AF65-F5344CB8AC3E}">
        <p14:creationId xmlns:p14="http://schemas.microsoft.com/office/powerpoint/2010/main" val="1536903313"/>
      </p:ext>
    </p:extLst>
  </p:cSld>
</p:sld>
</file>

<file path=ppt/slides/slide2.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49D60B5-B93F-4F1D-B3EE-1F7314876BE0}"/>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Nearest Neighbors: current implementation</a:t>
            </a:r>
          </a:p>
        </p:txBody>
      </p:sp>
      <p:sp>
        <p:nvSpPr>
          <p:cNvPr id="3" name="">
            <a:extLst xmlns:a="http://schemas.openxmlformats.org/drawingml/2006/main">
              <a:ext uri="{FF2B5EF4-FFF2-40B4-BE49-F238E27FC236}">
                <a16:creationId xmlns:a16="http://schemas.microsoft.com/office/drawing/2014/main" id="{C3AF1D91-4976-4D69-AFC8-7F8066B6A4B4}"/>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A589D43-1854-4FEF-B646-E323E26C771F}"/>
              </a:ext>
            </a:extLst>
          </p:cNvPr>
          <p:cNvSpPr>
            <a:spLocks xmlns:a="http://schemas.openxmlformats.org/drawingml/2006/main" noGrp="1"/>
          </p:cNvSpPr>
          <p:nvPr/>
        </p:nvSpPr>
        <p:spPr>
          <a:xfrm xmlns:a="http://schemas.openxmlformats.org/drawingml/2006/main">
            <a:off x="457200" y="1143000"/>
            <a:ext cx="2628900" cy="304800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CF4771-C10B-4ECE-A1FF-54C0AC3D5D85}"/>
              </a:ext>
            </a:extLst>
          </p:cNvPr>
          <p:cNvSpPr>
            <a:spLocks xmlns:a="http://schemas.openxmlformats.org/drawingml/2006/main" noGrp="1"/>
          </p:cNvSpPr>
          <p:nvPr/>
        </p:nvSpPr>
        <p:spPr>
          <a:xfrm xmlns:a="http://schemas.openxmlformats.org/drawingml/2006/main">
            <a:off x="68580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Player selection</a:t>
            </a:r>
          </a:p>
        </p:txBody>
      </p:sp>
      <p:sp>
        <p:nvSpPr>
          <p:cNvPr id="6" name="">
            <a:extLst xmlns:a="http://schemas.openxmlformats.org/drawingml/2006/main">
              <a:ext uri="{FF2B5EF4-FFF2-40B4-BE49-F238E27FC236}">
                <a16:creationId xmlns:a16="http://schemas.microsoft.com/office/drawing/2014/main" id="{C409D377-D139-4432-9A21-7D2728D38A30}"/>
              </a:ext>
            </a:extLst>
          </p:cNvPr>
          <p:cNvSpPr>
            <a:spLocks xmlns:a="http://schemas.openxmlformats.org/drawingml/2006/main" noGrp="1"/>
          </p:cNvSpPr>
          <p:nvPr/>
        </p:nvSpPr>
        <p:spPr>
          <a:xfrm xmlns:a="http://schemas.openxmlformats.org/drawingml/2006/main">
            <a:off x="685800" y="1981200"/>
            <a:ext cx="21717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Read the CSVs with pandas and find the player’s latest season.</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Select the feature set for attackers or midfielders.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Keep the same detailed position, earlier seasons and at least 450 minutes.</a:t>
            </a:r>
          </a:p>
        </p:txBody>
      </p:sp>
      <p:sp>
        <p:nvSpPr>
          <p:cNvPr id="7" name="">
            <a:extLst xmlns:a="http://schemas.openxmlformats.org/drawingml/2006/main">
              <a:ext uri="{FF2B5EF4-FFF2-40B4-BE49-F238E27FC236}">
                <a16:creationId xmlns:a16="http://schemas.microsoft.com/office/drawing/2014/main" id="{261B86BC-C028-45E5-9343-A07ECA177CA1}"/>
              </a:ext>
            </a:extLst>
          </p:cNvPr>
          <p:cNvSpPr>
            <a:spLocks xmlns:a="http://schemas.openxmlformats.org/drawingml/2006/main" noGrp="1"/>
          </p:cNvSpPr>
          <p:nvPr/>
        </p:nvSpPr>
        <p:spPr>
          <a:xfrm xmlns:a="http://schemas.openxmlformats.org/drawingml/2006/main">
            <a:off x="3257550" y="1143000"/>
            <a:ext cx="2628900" cy="304800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02691A-2DE8-48CA-A7CC-D2B4F6C4A4E8}"/>
              </a:ext>
            </a:extLst>
          </p:cNvPr>
          <p:cNvSpPr>
            <a:spLocks xmlns:a="http://schemas.openxmlformats.org/drawingml/2006/main" noGrp="1"/>
          </p:cNvSpPr>
          <p:nvPr/>
        </p:nvSpPr>
        <p:spPr>
          <a:xfrm xmlns:a="http://schemas.openxmlformats.org/drawingml/2006/main">
            <a:off x="348615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Equal-weight baseline</a:t>
            </a:r>
          </a:p>
        </p:txBody>
      </p:sp>
      <p:sp>
        <p:nvSpPr>
          <p:cNvPr id="9" name="">
            <a:extLst xmlns:a="http://schemas.openxmlformats.org/drawingml/2006/main">
              <a:ext uri="{FF2B5EF4-FFF2-40B4-BE49-F238E27FC236}">
                <a16:creationId xmlns:a16="http://schemas.microsoft.com/office/drawing/2014/main" id="{8F330A8B-4ABC-4CD2-928F-3F7002308591}"/>
              </a:ext>
            </a:extLst>
          </p:cNvPr>
          <p:cNvSpPr>
            <a:spLocks xmlns:a="http://schemas.openxmlformats.org/drawingml/2006/main" noGrp="1"/>
          </p:cNvSpPr>
          <p:nvPr/>
        </p:nvSpPr>
        <p:spPr>
          <a:xfrm xmlns:a="http://schemas.openxmlformats.org/drawingml/2006/main">
            <a:off x="3486150" y="1981200"/>
            <a:ext cx="21717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Fill missing values with the median, then standardize every feature.</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Give all scaled features equal weight: 14 for attackers and 11 for midfielders.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Use scikit-learn NearestNeighbors for a simple first implementation.</a:t>
            </a:r>
          </a:p>
        </p:txBody>
      </p:sp>
      <p:sp>
        <p:nvSpPr>
          <p:cNvPr id="10" name="">
            <a:extLst xmlns:a="http://schemas.openxmlformats.org/drawingml/2006/main">
              <a:ext uri="{FF2B5EF4-FFF2-40B4-BE49-F238E27FC236}">
                <a16:creationId xmlns:a16="http://schemas.microsoft.com/office/drawing/2014/main" id="{2343BD6F-138F-401C-B42C-052B44B89980}"/>
              </a:ext>
            </a:extLst>
          </p:cNvPr>
          <p:cNvSpPr>
            <a:spLocks xmlns:a="http://schemas.openxmlformats.org/drawingml/2006/main" noGrp="1"/>
          </p:cNvSpPr>
          <p:nvPr/>
        </p:nvSpPr>
        <p:spPr>
          <a:xfrm xmlns:a="http://schemas.openxmlformats.org/drawingml/2006/main">
            <a:off x="6057900" y="1143000"/>
            <a:ext cx="2628900" cy="304800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22261F-498A-42C4-A78F-5F76A0667D19}"/>
              </a:ext>
            </a:extLst>
          </p:cNvPr>
          <p:cNvSpPr>
            <a:spLocks xmlns:a="http://schemas.openxmlformats.org/drawingml/2006/main" noGrp="1"/>
          </p:cNvSpPr>
          <p:nvPr/>
        </p:nvSpPr>
        <p:spPr>
          <a:xfrm xmlns:a="http://schemas.openxmlformats.org/drawingml/2006/main">
            <a:off x="628650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Runs on demand</a:t>
            </a:r>
          </a:p>
        </p:txBody>
      </p:sp>
      <p:sp>
        <p:nvSpPr>
          <p:cNvPr id="12" name="">
            <a:extLst xmlns:a="http://schemas.openxmlformats.org/drawingml/2006/main">
              <a:ext uri="{FF2B5EF4-FFF2-40B4-BE49-F238E27FC236}">
                <a16:creationId xmlns:a16="http://schemas.microsoft.com/office/drawing/2014/main" id="{2C7AFB39-E3D1-430B-8CB7-0FC28BE6F795}"/>
              </a:ext>
            </a:extLst>
          </p:cNvPr>
          <p:cNvSpPr>
            <a:spLocks xmlns:a="http://schemas.openxmlformats.org/drawingml/2006/main" noGrp="1"/>
          </p:cNvSpPr>
          <p:nvPr/>
        </p:nvSpPr>
        <p:spPr>
          <a:xfrm xmlns:a="http://schemas.openxmlformats.org/drawingml/2006/main">
            <a:off x="6286500" y="1981200"/>
            <a:ext cx="21717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Get Report runs the Python model for the selected player.</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We do not store a separate set of five neighbors for every player.</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This keeps the prototype simple and lets feature changes take effect on the next request.</a:t>
            </a:r>
          </a:p>
        </p:txBody>
      </p:sp>
    </p:spTree>
    <p:extLst>
      <p:ext uri="{BB962C8B-B14F-4D97-AF65-F5344CB8AC3E}">
        <p14:creationId xmlns:p14="http://schemas.microsoft.com/office/powerpoint/2010/main" val="1458439313"/>
      </p:ext>
    </p:extLst>
  </p:cSld>
</p:sld>
</file>

<file path=ppt/slides/slide3.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887ABF-EDD3-4A3B-9A18-29A1CE7F96A8}"/>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Historical comparison pool</a:t>
            </a:r>
          </a:p>
        </p:txBody>
      </p:sp>
      <p:sp>
        <p:nvSpPr>
          <p:cNvPr id="3" name="">
            <a:extLst xmlns:a="http://schemas.openxmlformats.org/drawingml/2006/main">
              <a:ext uri="{FF2B5EF4-FFF2-40B4-BE49-F238E27FC236}">
                <a16:creationId xmlns:a16="http://schemas.microsoft.com/office/drawing/2014/main" id="{7C7C1FE2-393D-4FFC-8DDB-A863236BC2A4}"/>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DBE00E8-3AAC-488A-BA16-3F3A9D7A3CF5}"/>
              </a:ext>
            </a:extLst>
          </p:cNvPr>
          <p:cNvSpPr>
            <a:spLocks xmlns:a="http://schemas.openxmlformats.org/drawingml/2006/main" noGrp="1"/>
          </p:cNvSpPr>
          <p:nvPr/>
        </p:nvSpPr>
        <p:spPr>
          <a:xfrm xmlns:a="http://schemas.openxmlformats.org/drawingml/2006/main">
            <a:off x="457200" y="942975"/>
            <a:ext cx="822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A 2025–26 query searches eligible seasons from 2014–15 through 2024–25.</a:t>
            </a:r>
          </a:p>
        </p:txBody>
      </p:sp>
      <p:sp>
        <p:nvSpPr>
          <p:cNvPr id="5" name="">
            <a:extLst xmlns:a="http://schemas.openxmlformats.org/drawingml/2006/main">
              <a:ext uri="{FF2B5EF4-FFF2-40B4-BE49-F238E27FC236}">
                <a16:creationId xmlns:a16="http://schemas.microsoft.com/office/drawing/2014/main" id="{893BF090-E5A1-4D6A-AE81-DB8CFAAD0F03}"/>
              </a:ext>
            </a:extLst>
          </p:cNvPr>
          <p:cNvSpPr>
            <a:spLocks xmlns:a="http://schemas.openxmlformats.org/drawingml/2006/main" noGrp="1"/>
          </p:cNvSpPr>
          <p:nvPr/>
        </p:nvSpPr>
        <p:spPr>
          <a:xfrm xmlns:a="http://schemas.openxmlformats.org/drawingml/2006/main">
            <a:off x="457200" y="1438275"/>
            <a:ext cx="4000500" cy="2095500"/>
          </a:xfrm>
          <a:prstGeom xmlns:a="http://schemas.openxmlformats.org/drawingml/2006/main" prst="roundRect">
            <a:avLst>
              <a:gd name="adj" fmla="val 3636"/>
            </a:avLst>
          </a:prstGeom>
          <a:solidFill xmlns:a="http://schemas.openxmlformats.org/drawingml/2006/main">
            <a:srgbClr val="E9F3F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402FAC-2849-4381-AC45-F3D32EC0E9E2}"/>
              </a:ext>
            </a:extLst>
          </p:cNvPr>
          <p:cNvSpPr>
            <a:spLocks xmlns:a="http://schemas.openxmlformats.org/drawingml/2006/main" noGrp="1"/>
          </p:cNvSpPr>
          <p:nvPr/>
        </p:nvSpPr>
        <p:spPr>
          <a:xfrm xmlns:a="http://schemas.openxmlformats.org/drawingml/2006/main">
            <a:off x="685800" y="1666875"/>
            <a:ext cx="3543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Attacking midfield example</a:t>
            </a:r>
          </a:p>
        </p:txBody>
      </p:sp>
      <p:sp>
        <p:nvSpPr>
          <p:cNvPr id="7" name="">
            <a:extLst xmlns:a="http://schemas.openxmlformats.org/drawingml/2006/main">
              <a:ext uri="{FF2B5EF4-FFF2-40B4-BE49-F238E27FC236}">
                <a16:creationId xmlns:a16="http://schemas.microsoft.com/office/drawing/2014/main" id="{1A3673A6-8681-45EB-A69E-6443DB54409A}"/>
              </a:ext>
            </a:extLst>
          </p:cNvPr>
          <p:cNvSpPr>
            <a:spLocks xmlns:a="http://schemas.openxmlformats.org/drawingml/2006/main" noGrp="1"/>
          </p:cNvSpPr>
          <p:nvPr/>
        </p:nvSpPr>
        <p:spPr>
          <a:xfrm xmlns:a="http://schemas.openxmlformats.org/drawingml/2006/main">
            <a:off x="685800" y="2276475"/>
            <a:ext cx="3543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Bruno Fernandes, 2025–26</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1,318 historical player-season rows</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367 different players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About 1,300 rows for this CAM search.</a:t>
            </a:r>
          </a:p>
        </p:txBody>
      </p:sp>
      <p:sp>
        <p:nvSpPr>
          <p:cNvPr id="8" name="">
            <a:extLst xmlns:a="http://schemas.openxmlformats.org/drawingml/2006/main">
              <a:ext uri="{FF2B5EF4-FFF2-40B4-BE49-F238E27FC236}">
                <a16:creationId xmlns:a16="http://schemas.microsoft.com/office/drawing/2014/main" id="{8A824A8A-03E8-46EA-9ECC-DDDA4A68DCC3}"/>
              </a:ext>
            </a:extLst>
          </p:cNvPr>
          <p:cNvSpPr>
            <a:spLocks xmlns:a="http://schemas.openxmlformats.org/drawingml/2006/main" noGrp="1"/>
          </p:cNvSpPr>
          <p:nvPr/>
        </p:nvSpPr>
        <p:spPr>
          <a:xfrm xmlns:a="http://schemas.openxmlformats.org/drawingml/2006/main">
            <a:off x="4686300" y="1438275"/>
            <a:ext cx="4000500" cy="2095500"/>
          </a:xfrm>
          <a:prstGeom xmlns:a="http://schemas.openxmlformats.org/drawingml/2006/main" prst="roundRect">
            <a:avLst>
              <a:gd name="adj" fmla="val 3636"/>
            </a:avLst>
          </a:prstGeom>
          <a:solidFill xmlns:a="http://schemas.openxmlformats.org/drawingml/2006/main">
            <a:srgbClr val="E9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83EF8B-9AC5-41FC-91A1-D0606A03A0EE}"/>
              </a:ext>
            </a:extLst>
          </p:cNvPr>
          <p:cNvSpPr>
            <a:spLocks xmlns:a="http://schemas.openxmlformats.org/drawingml/2006/main" noGrp="1"/>
          </p:cNvSpPr>
          <p:nvPr/>
        </p:nvSpPr>
        <p:spPr>
          <a:xfrm xmlns:a="http://schemas.openxmlformats.org/drawingml/2006/main">
            <a:off x="4914900" y="1666875"/>
            <a:ext cx="3543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Centre-forward example</a:t>
            </a:r>
          </a:p>
        </p:txBody>
      </p:sp>
      <p:sp>
        <p:nvSpPr>
          <p:cNvPr id="10" name="">
            <a:extLst xmlns:a="http://schemas.openxmlformats.org/drawingml/2006/main">
              <a:ext uri="{FF2B5EF4-FFF2-40B4-BE49-F238E27FC236}">
                <a16:creationId xmlns:a16="http://schemas.microsoft.com/office/drawing/2014/main" id="{5C2108B0-2439-4432-A792-67B8C8573FB6}"/>
              </a:ext>
            </a:extLst>
          </p:cNvPr>
          <p:cNvSpPr>
            <a:spLocks xmlns:a="http://schemas.openxmlformats.org/drawingml/2006/main" noGrp="1"/>
          </p:cNvSpPr>
          <p:nvPr/>
        </p:nvSpPr>
        <p:spPr>
          <a:xfrm xmlns:a="http://schemas.openxmlformats.org/drawingml/2006/main">
            <a:off x="4914900" y="2276475"/>
            <a:ext cx="3543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Erling Haaland, 2025–26</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2,993 historical player-season rows</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847 different players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The pool size changes with position and season.</a:t>
            </a:r>
          </a:p>
        </p:txBody>
      </p:sp>
      <p:sp>
        <p:nvSpPr>
          <p:cNvPr id="11" name="">
            <a:extLst xmlns:a="http://schemas.openxmlformats.org/drawingml/2006/main">
              <a:ext uri="{FF2B5EF4-FFF2-40B4-BE49-F238E27FC236}">
                <a16:creationId xmlns:a16="http://schemas.microsoft.com/office/drawing/2014/main" id="{CE832FA7-9F22-4FFF-BA0A-45B872EC4203}"/>
              </a:ext>
            </a:extLst>
          </p:cNvPr>
          <p:cNvSpPr>
            <a:spLocks xmlns:a="http://schemas.openxmlformats.org/drawingml/2006/main" noGrp="1"/>
          </p:cNvSpPr>
          <p:nvPr/>
        </p:nvSpPr>
        <p:spPr>
          <a:xfrm xmlns:a="http://schemas.openxmlformats.org/drawingml/2006/main">
            <a:off x="542925" y="3848100"/>
            <a:ext cx="805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3469"/>
                </a:solidFill>
                <a:latin typeface="Arial"/>
                <a:ea typeface="Arial"/>
                <a:cs typeface="Arial"/>
              </a:defRPr>
            </a:defPPr>
            <a:lvl1pPr algn="l">
              <a:defRPr sz="1150" b="0">
                <a:solidFill>
                  <a:srgbClr val="003469"/>
                </a:solidFill>
                <a:latin typeface="Arial"/>
                <a:ea typeface="Arial"/>
                <a:cs typeface="Arial"/>
              </a:defRPr>
            </a:lvl1pPr>
            <a:lvl2pPr algn="l">
              <a:defRPr sz="1150" b="0">
                <a:solidFill>
                  <a:srgbClr val="003469"/>
                </a:solidFill>
                <a:latin typeface="Arial"/>
                <a:ea typeface="Arial"/>
                <a:cs typeface="Arial"/>
              </a:defRPr>
            </a:lvl2pPr>
            <a:lvl3pPr algn="l">
              <a:defRPr sz="1150" b="0">
                <a:solidFill>
                  <a:srgbClr val="003469"/>
                </a:solidFill>
                <a:latin typeface="Arial"/>
                <a:ea typeface="Arial"/>
                <a:cs typeface="Arial"/>
              </a:defRPr>
            </a:lvl3pPr>
            <a:lvl4pPr algn="l">
              <a:defRPr sz="1150" b="0">
                <a:solidFill>
                  <a:srgbClr val="003469"/>
                </a:solidFill>
                <a:latin typeface="Arial"/>
                <a:ea typeface="Arial"/>
                <a:cs typeface="Arial"/>
              </a:defRPr>
            </a:lvl4pPr>
            <a:lvl5pPr algn="l">
              <a:defRPr sz="1150" b="0">
                <a:solidFill>
                  <a:srgbClr val="003469"/>
                </a:solidFill>
                <a:latin typeface="Arial"/>
                <a:ea typeface="Arial"/>
                <a:cs typeface="Arial"/>
              </a:defRPr>
            </a:lvl5pPr>
            <a:lvl6pPr algn="l">
              <a:defRPr sz="1150" b="0">
                <a:solidFill>
                  <a:srgbClr val="003469"/>
                </a:solidFill>
                <a:latin typeface="Arial"/>
                <a:ea typeface="Arial"/>
                <a:cs typeface="Arial"/>
              </a:defRPr>
            </a:lvl6pPr>
            <a:lvl7pPr algn="l">
              <a:defRPr sz="1150" b="0">
                <a:solidFill>
                  <a:srgbClr val="003469"/>
                </a:solidFill>
                <a:latin typeface="Arial"/>
                <a:ea typeface="Arial"/>
                <a:cs typeface="Arial"/>
              </a:defRPr>
            </a:lvl7pPr>
            <a:lvl8pPr algn="l">
              <a:defRPr sz="1150" b="0">
                <a:solidFill>
                  <a:srgbClr val="003469"/>
                </a:solidFill>
                <a:latin typeface="Arial"/>
                <a:ea typeface="Arial"/>
                <a:cs typeface="Arial"/>
              </a:defRPr>
            </a:lvl8pPr>
            <a:lvl9pPr algn="l">
              <a:defRPr sz="1150" b="0">
                <a:solidFill>
                  <a:srgbClr val="003469"/>
                </a:solidFill>
                <a:latin typeface="Arial"/>
                <a:ea typeface="Arial"/>
                <a:cs typeface="Arial"/>
              </a:defRPr>
            </a:lvl9pPr>
          </a:lstStyle>
          <a:p xmlns:a="http://schemas.openxmlformats.org/drawingml/2006/main">
            <a:pPr algn="l">
              <a:defRPr sz="1150" b="0">
                <a:solidFill>
                  <a:srgbClr val="003469"/>
                </a:solidFill>
                <a:latin typeface="Arial"/>
                <a:ea typeface="Arial"/>
                <a:cs typeface="Arial"/>
              </a:defRPr>
            </a:pPr>
            <a:r>
              <a:rPr sz="1150" b="0">
                <a:solidFill>
                  <a:srgbClr val="003469"/>
                </a:solidFill>
                <a:latin typeface="Arial"/>
                <a:ea typeface="Arial"/>
                <a:cs typeface="Arial"/>
              </a:rPr>
              <a:t>The model compares all eligible rows, then keeps each player’s closest season and returns five different players.</a:t>
            </a:r>
          </a:p>
        </p:txBody>
      </p:sp>
    </p:spTree>
    <p:extLst>
      <p:ext uri="{BB962C8B-B14F-4D97-AF65-F5344CB8AC3E}">
        <p14:creationId xmlns:p14="http://schemas.microsoft.com/office/powerpoint/2010/main" val="1431573935"/>
      </p:ext>
    </p:extLst>
  </p:cSld>
</p:sld>
</file>

<file path=ppt/slides/slide4.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1B50D63-5EF6-4540-BE26-4229D6108278}"/>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Next-season outlook</a:t>
            </a:r>
          </a:p>
        </p:txBody>
      </p:sp>
      <p:sp>
        <p:nvSpPr>
          <p:cNvPr id="3" name="">
            <a:extLst xmlns:a="http://schemas.openxmlformats.org/drawingml/2006/main">
              <a:ext uri="{FF2B5EF4-FFF2-40B4-BE49-F238E27FC236}">
                <a16:creationId xmlns:a16="http://schemas.microsoft.com/office/drawing/2014/main" id="{1B669651-42FB-401E-A266-A65A078DDA6F}"/>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486AB5E-FBDC-4C96-87F4-8A5948517D3B}"/>
              </a:ext>
            </a:extLst>
          </p:cNvPr>
          <p:cNvSpPr>
            <a:spLocks xmlns:a="http://schemas.openxmlformats.org/drawingml/2006/main" noGrp="1"/>
          </p:cNvSpPr>
          <p:nvPr/>
        </p:nvSpPr>
        <p:spPr>
          <a:xfrm xmlns:a="http://schemas.openxmlformats.org/drawingml/2006/main">
            <a:off x="533400" y="1095375"/>
            <a:ext cx="3867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How the current code builds the estimate</a:t>
            </a:r>
          </a:p>
        </p:txBody>
      </p:sp>
      <p:sp>
        <p:nvSpPr>
          <p:cNvPr id="5" name="">
            <a:extLst xmlns:a="http://schemas.openxmlformats.org/drawingml/2006/main">
              <a:ext uri="{FF2B5EF4-FFF2-40B4-BE49-F238E27FC236}">
                <a16:creationId xmlns:a16="http://schemas.microsoft.com/office/drawing/2014/main" id="{007C5421-253B-40CA-BD10-BF453E4D133C}"/>
              </a:ext>
            </a:extLst>
          </p:cNvPr>
          <p:cNvSpPr>
            <a:spLocks xmlns:a="http://schemas.openxmlformats.org/drawingml/2006/main" noGrp="1"/>
          </p:cNvSpPr>
          <p:nvPr/>
        </p:nvSpPr>
        <p:spPr>
          <a:xfrm xmlns:a="http://schemas.openxmlformats.org/drawingml/2006/main">
            <a:off x="457200" y="1438275"/>
            <a:ext cx="3905250" cy="9525"/>
          </a:xfrm>
          <a:prstGeom xmlns:a="http://schemas.openxmlformats.org/drawingml/2006/main" prst="rect">
            <a:avLst/>
          </a:prstGeom>
          <a:solidFill xmlns:a="http://schemas.openxmlformats.org/drawingml/2006/main">
            <a:srgbClr val="00346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3C2273-14A7-4C56-BEED-04FC5EDE8809}"/>
              </a:ext>
            </a:extLst>
          </p:cNvPr>
          <p:cNvSpPr>
            <a:spLocks xmlns:a="http://schemas.openxmlformats.org/drawingml/2006/main" noGrp="1"/>
          </p:cNvSpPr>
          <p:nvPr/>
        </p:nvSpPr>
        <p:spPr>
          <a:xfrm xmlns:a="http://schemas.openxmlformats.org/drawingml/2006/main">
            <a:off x="552450" y="1676400"/>
            <a:ext cx="365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3469"/>
                </a:solidFill>
                <a:latin typeface="Arial"/>
                <a:ea typeface="Arial"/>
                <a:cs typeface="Arial"/>
              </a:defRPr>
            </a:defPPr>
            <a:lvl1pPr algn="l">
              <a:defRPr sz="1150" b="1">
                <a:solidFill>
                  <a:srgbClr val="003469"/>
                </a:solidFill>
                <a:latin typeface="Arial"/>
                <a:ea typeface="Arial"/>
                <a:cs typeface="Arial"/>
              </a:defRPr>
            </a:lvl1pPr>
            <a:lvl2pPr algn="l">
              <a:defRPr sz="1150" b="1">
                <a:solidFill>
                  <a:srgbClr val="003469"/>
                </a:solidFill>
                <a:latin typeface="Arial"/>
                <a:ea typeface="Arial"/>
                <a:cs typeface="Arial"/>
              </a:defRPr>
            </a:lvl2pPr>
            <a:lvl3pPr algn="l">
              <a:defRPr sz="1150" b="1">
                <a:solidFill>
                  <a:srgbClr val="003469"/>
                </a:solidFill>
                <a:latin typeface="Arial"/>
                <a:ea typeface="Arial"/>
                <a:cs typeface="Arial"/>
              </a:defRPr>
            </a:lvl3pPr>
            <a:lvl4pPr algn="l">
              <a:defRPr sz="1150" b="1">
                <a:solidFill>
                  <a:srgbClr val="003469"/>
                </a:solidFill>
                <a:latin typeface="Arial"/>
                <a:ea typeface="Arial"/>
                <a:cs typeface="Arial"/>
              </a:defRPr>
            </a:lvl4pPr>
            <a:lvl5pPr algn="l">
              <a:defRPr sz="1150" b="1">
                <a:solidFill>
                  <a:srgbClr val="003469"/>
                </a:solidFill>
                <a:latin typeface="Arial"/>
                <a:ea typeface="Arial"/>
                <a:cs typeface="Arial"/>
              </a:defRPr>
            </a:lvl5pPr>
            <a:lvl6pPr algn="l">
              <a:defRPr sz="1150" b="1">
                <a:solidFill>
                  <a:srgbClr val="003469"/>
                </a:solidFill>
                <a:latin typeface="Arial"/>
                <a:ea typeface="Arial"/>
                <a:cs typeface="Arial"/>
              </a:defRPr>
            </a:lvl6pPr>
            <a:lvl7pPr algn="l">
              <a:defRPr sz="1150" b="1">
                <a:solidFill>
                  <a:srgbClr val="003469"/>
                </a:solidFill>
                <a:latin typeface="Arial"/>
                <a:ea typeface="Arial"/>
                <a:cs typeface="Arial"/>
              </a:defRPr>
            </a:lvl7pPr>
            <a:lvl8pPr algn="l">
              <a:defRPr sz="1150" b="1">
                <a:solidFill>
                  <a:srgbClr val="003469"/>
                </a:solidFill>
                <a:latin typeface="Arial"/>
                <a:ea typeface="Arial"/>
                <a:cs typeface="Arial"/>
              </a:defRPr>
            </a:lvl8pPr>
            <a:lvl9pPr algn="l">
              <a:defRPr sz="1150" b="1">
                <a:solidFill>
                  <a:srgbClr val="003469"/>
                </a:solidFill>
                <a:latin typeface="Arial"/>
                <a:ea typeface="Arial"/>
                <a:cs typeface="Arial"/>
              </a:defRPr>
            </a:lvl9pPr>
          </a:lstStyle>
          <a:p xmlns:a="http://schemas.openxmlformats.org/drawingml/2006/main">
            <a:pPr algn="l">
              <a:defRPr sz="1150" b="1">
                <a:solidFill>
                  <a:srgbClr val="003469"/>
                </a:solidFill>
                <a:latin typeface="Arial"/>
                <a:ea typeface="Arial"/>
                <a:cs typeface="Arial"/>
              </a:defRPr>
            </a:pPr>
            <a:r>
              <a:rPr sz="1150" b="1">
                <a:solidFill>
                  <a:srgbClr val="003469"/>
                </a:solidFill>
                <a:latin typeface="Arial"/>
                <a:ea typeface="Arial"/>
                <a:cs typeface="Arial"/>
              </a:rPr>
              <a:t>1. Find the five closest players</a:t>
            </a:r>
          </a:p>
        </p:txBody>
      </p:sp>
      <p:sp>
        <p:nvSpPr>
          <p:cNvPr id="7" name="">
            <a:extLst xmlns:a="http://schemas.openxmlformats.org/drawingml/2006/main">
              <a:ext uri="{FF2B5EF4-FFF2-40B4-BE49-F238E27FC236}">
                <a16:creationId xmlns:a16="http://schemas.microsoft.com/office/drawing/2014/main" id="{3D8F6DF4-0910-40F9-ABC1-70FAB3324B94}"/>
              </a:ext>
            </a:extLst>
          </p:cNvPr>
          <p:cNvSpPr>
            <a:spLocks xmlns:a="http://schemas.openxmlformats.org/drawingml/2006/main" noGrp="1"/>
          </p:cNvSpPr>
          <p:nvPr/>
        </p:nvSpPr>
        <p:spPr>
          <a:xfrm xmlns:a="http://schemas.openxmlformats.org/drawingml/2006/main">
            <a:off x="552450" y="1943100"/>
            <a:ext cx="365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Rank the historical profiles by distance and remove repeated players.</a:t>
            </a:r>
          </a:p>
        </p:txBody>
      </p:sp>
      <p:sp>
        <p:nvSpPr>
          <p:cNvPr id="8" name="">
            <a:extLst xmlns:a="http://schemas.openxmlformats.org/drawingml/2006/main">
              <a:ext uri="{FF2B5EF4-FFF2-40B4-BE49-F238E27FC236}">
                <a16:creationId xmlns:a16="http://schemas.microsoft.com/office/drawing/2014/main" id="{D6A87885-666F-4221-A8B7-F16F07C6630F}"/>
              </a:ext>
            </a:extLst>
          </p:cNvPr>
          <p:cNvSpPr>
            <a:spLocks xmlns:a="http://schemas.openxmlformats.org/drawingml/2006/main" noGrp="1"/>
          </p:cNvSpPr>
          <p:nvPr/>
        </p:nvSpPr>
        <p:spPr>
          <a:xfrm xmlns:a="http://schemas.openxmlformats.org/drawingml/2006/main">
            <a:off x="552450" y="2514600"/>
            <a:ext cx="365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3469"/>
                </a:solidFill>
                <a:latin typeface="Arial"/>
                <a:ea typeface="Arial"/>
                <a:cs typeface="Arial"/>
              </a:defRPr>
            </a:defPPr>
            <a:lvl1pPr algn="l">
              <a:defRPr sz="1150" b="1">
                <a:solidFill>
                  <a:srgbClr val="003469"/>
                </a:solidFill>
                <a:latin typeface="Arial"/>
                <a:ea typeface="Arial"/>
                <a:cs typeface="Arial"/>
              </a:defRPr>
            </a:lvl1pPr>
            <a:lvl2pPr algn="l">
              <a:defRPr sz="1150" b="1">
                <a:solidFill>
                  <a:srgbClr val="003469"/>
                </a:solidFill>
                <a:latin typeface="Arial"/>
                <a:ea typeface="Arial"/>
                <a:cs typeface="Arial"/>
              </a:defRPr>
            </a:lvl2pPr>
            <a:lvl3pPr algn="l">
              <a:defRPr sz="1150" b="1">
                <a:solidFill>
                  <a:srgbClr val="003469"/>
                </a:solidFill>
                <a:latin typeface="Arial"/>
                <a:ea typeface="Arial"/>
                <a:cs typeface="Arial"/>
              </a:defRPr>
            </a:lvl3pPr>
            <a:lvl4pPr algn="l">
              <a:defRPr sz="1150" b="1">
                <a:solidFill>
                  <a:srgbClr val="003469"/>
                </a:solidFill>
                <a:latin typeface="Arial"/>
                <a:ea typeface="Arial"/>
                <a:cs typeface="Arial"/>
              </a:defRPr>
            </a:lvl4pPr>
            <a:lvl5pPr algn="l">
              <a:defRPr sz="1150" b="1">
                <a:solidFill>
                  <a:srgbClr val="003469"/>
                </a:solidFill>
                <a:latin typeface="Arial"/>
                <a:ea typeface="Arial"/>
                <a:cs typeface="Arial"/>
              </a:defRPr>
            </a:lvl5pPr>
            <a:lvl6pPr algn="l">
              <a:defRPr sz="1150" b="1">
                <a:solidFill>
                  <a:srgbClr val="003469"/>
                </a:solidFill>
                <a:latin typeface="Arial"/>
                <a:ea typeface="Arial"/>
                <a:cs typeface="Arial"/>
              </a:defRPr>
            </a:lvl6pPr>
            <a:lvl7pPr algn="l">
              <a:defRPr sz="1150" b="1">
                <a:solidFill>
                  <a:srgbClr val="003469"/>
                </a:solidFill>
                <a:latin typeface="Arial"/>
                <a:ea typeface="Arial"/>
                <a:cs typeface="Arial"/>
              </a:defRPr>
            </a:lvl7pPr>
            <a:lvl8pPr algn="l">
              <a:defRPr sz="1150" b="1">
                <a:solidFill>
                  <a:srgbClr val="003469"/>
                </a:solidFill>
                <a:latin typeface="Arial"/>
                <a:ea typeface="Arial"/>
                <a:cs typeface="Arial"/>
              </a:defRPr>
            </a:lvl8pPr>
            <a:lvl9pPr algn="l">
              <a:defRPr sz="1150" b="1">
                <a:solidFill>
                  <a:srgbClr val="003469"/>
                </a:solidFill>
                <a:latin typeface="Arial"/>
                <a:ea typeface="Arial"/>
                <a:cs typeface="Arial"/>
              </a:defRPr>
            </a:lvl9pPr>
          </a:lstStyle>
          <a:p xmlns:a="http://schemas.openxmlformats.org/drawingml/2006/main">
            <a:pPr algn="l">
              <a:defRPr sz="1150" b="1">
                <a:solidFill>
                  <a:srgbClr val="003469"/>
                </a:solidFill>
                <a:latin typeface="Arial"/>
                <a:ea typeface="Arial"/>
                <a:cs typeface="Arial"/>
              </a:defRPr>
            </a:pPr>
            <a:r>
              <a:rPr sz="1150" b="1">
                <a:solidFill>
                  <a:srgbClr val="003469"/>
                </a:solidFill>
                <a:latin typeface="Arial"/>
                <a:ea typeface="Arial"/>
                <a:cs typeface="Arial"/>
              </a:rPr>
              <a:t>2. Retrieve each next season</a:t>
            </a:r>
          </a:p>
        </p:txBody>
      </p:sp>
      <p:sp>
        <p:nvSpPr>
          <p:cNvPr id="9" name="">
            <a:extLst xmlns:a="http://schemas.openxmlformats.org/drawingml/2006/main">
              <a:ext uri="{FF2B5EF4-FFF2-40B4-BE49-F238E27FC236}">
                <a16:creationId xmlns:a16="http://schemas.microsoft.com/office/drawing/2014/main" id="{F21612D4-A2CB-47BC-BF01-E83484F54666}"/>
              </a:ext>
            </a:extLst>
          </p:cNvPr>
          <p:cNvSpPr>
            <a:spLocks xmlns:a="http://schemas.openxmlformats.org/drawingml/2006/main" noGrp="1"/>
          </p:cNvSpPr>
          <p:nvPr/>
        </p:nvSpPr>
        <p:spPr>
          <a:xfrm xmlns:a="http://schemas.openxmlformats.org/drawingml/2006/main">
            <a:off x="552450" y="2781300"/>
            <a:ext cx="365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Use player IDs to find the season after each historical match.</a:t>
            </a:r>
          </a:p>
        </p:txBody>
      </p:sp>
      <p:sp>
        <p:nvSpPr>
          <p:cNvPr id="10" name="">
            <a:extLst xmlns:a="http://schemas.openxmlformats.org/drawingml/2006/main">
              <a:ext uri="{FF2B5EF4-FFF2-40B4-BE49-F238E27FC236}">
                <a16:creationId xmlns:a16="http://schemas.microsoft.com/office/drawing/2014/main" id="{3294DC69-18C7-4127-A360-AF245A6BB180}"/>
              </a:ext>
            </a:extLst>
          </p:cNvPr>
          <p:cNvSpPr>
            <a:spLocks xmlns:a="http://schemas.openxmlformats.org/drawingml/2006/main" noGrp="1"/>
          </p:cNvSpPr>
          <p:nvPr/>
        </p:nvSpPr>
        <p:spPr>
          <a:xfrm xmlns:a="http://schemas.openxmlformats.org/drawingml/2006/main">
            <a:off x="552450" y="3352800"/>
            <a:ext cx="365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3469"/>
                </a:solidFill>
                <a:latin typeface="Arial"/>
                <a:ea typeface="Arial"/>
                <a:cs typeface="Arial"/>
              </a:defRPr>
            </a:defPPr>
            <a:lvl1pPr algn="l">
              <a:defRPr sz="1150" b="1">
                <a:solidFill>
                  <a:srgbClr val="003469"/>
                </a:solidFill>
                <a:latin typeface="Arial"/>
                <a:ea typeface="Arial"/>
                <a:cs typeface="Arial"/>
              </a:defRPr>
            </a:lvl1pPr>
            <a:lvl2pPr algn="l">
              <a:defRPr sz="1150" b="1">
                <a:solidFill>
                  <a:srgbClr val="003469"/>
                </a:solidFill>
                <a:latin typeface="Arial"/>
                <a:ea typeface="Arial"/>
                <a:cs typeface="Arial"/>
              </a:defRPr>
            </a:lvl2pPr>
            <a:lvl3pPr algn="l">
              <a:defRPr sz="1150" b="1">
                <a:solidFill>
                  <a:srgbClr val="003469"/>
                </a:solidFill>
                <a:latin typeface="Arial"/>
                <a:ea typeface="Arial"/>
                <a:cs typeface="Arial"/>
              </a:defRPr>
            </a:lvl3pPr>
            <a:lvl4pPr algn="l">
              <a:defRPr sz="1150" b="1">
                <a:solidFill>
                  <a:srgbClr val="003469"/>
                </a:solidFill>
                <a:latin typeface="Arial"/>
                <a:ea typeface="Arial"/>
                <a:cs typeface="Arial"/>
              </a:defRPr>
            </a:lvl4pPr>
            <a:lvl5pPr algn="l">
              <a:defRPr sz="1150" b="1">
                <a:solidFill>
                  <a:srgbClr val="003469"/>
                </a:solidFill>
                <a:latin typeface="Arial"/>
                <a:ea typeface="Arial"/>
                <a:cs typeface="Arial"/>
              </a:defRPr>
            </a:lvl5pPr>
            <a:lvl6pPr algn="l">
              <a:defRPr sz="1150" b="1">
                <a:solidFill>
                  <a:srgbClr val="003469"/>
                </a:solidFill>
                <a:latin typeface="Arial"/>
                <a:ea typeface="Arial"/>
                <a:cs typeface="Arial"/>
              </a:defRPr>
            </a:lvl6pPr>
            <a:lvl7pPr algn="l">
              <a:defRPr sz="1150" b="1">
                <a:solidFill>
                  <a:srgbClr val="003469"/>
                </a:solidFill>
                <a:latin typeface="Arial"/>
                <a:ea typeface="Arial"/>
                <a:cs typeface="Arial"/>
              </a:defRPr>
            </a:lvl7pPr>
            <a:lvl8pPr algn="l">
              <a:defRPr sz="1150" b="1">
                <a:solidFill>
                  <a:srgbClr val="003469"/>
                </a:solidFill>
                <a:latin typeface="Arial"/>
                <a:ea typeface="Arial"/>
                <a:cs typeface="Arial"/>
              </a:defRPr>
            </a:lvl8pPr>
            <a:lvl9pPr algn="l">
              <a:defRPr sz="1150" b="1">
                <a:solidFill>
                  <a:srgbClr val="003469"/>
                </a:solidFill>
                <a:latin typeface="Arial"/>
                <a:ea typeface="Arial"/>
                <a:cs typeface="Arial"/>
              </a:defRPr>
            </a:lvl9pPr>
          </a:lstStyle>
          <a:p xmlns:a="http://schemas.openxmlformats.org/drawingml/2006/main">
            <a:pPr algn="l">
              <a:defRPr sz="1150" b="1">
                <a:solidFill>
                  <a:srgbClr val="003469"/>
                </a:solidFill>
                <a:latin typeface="Arial"/>
                <a:ea typeface="Arial"/>
                <a:cs typeface="Arial"/>
              </a:defRPr>
            </a:pPr>
            <a:r>
              <a:rPr sz="1150" b="1">
                <a:solidFill>
                  <a:srgbClr val="003469"/>
                </a:solidFill>
                <a:latin typeface="Arial"/>
                <a:ea typeface="Arial"/>
                <a:cs typeface="Arial"/>
              </a:rPr>
              <a:t>3. Average the available outcomes</a:t>
            </a:r>
          </a:p>
        </p:txBody>
      </p:sp>
      <p:sp>
        <p:nvSpPr>
          <p:cNvPr id="11" name="">
            <a:extLst xmlns:a="http://schemas.openxmlformats.org/drawingml/2006/main">
              <a:ext uri="{FF2B5EF4-FFF2-40B4-BE49-F238E27FC236}">
                <a16:creationId xmlns:a16="http://schemas.microsoft.com/office/drawing/2014/main" id="{AA9E4D07-0771-48B1-93C4-DF5AB3EF08A3}"/>
              </a:ext>
            </a:extLst>
          </p:cNvPr>
          <p:cNvSpPr>
            <a:spLocks xmlns:a="http://schemas.openxmlformats.org/drawingml/2006/main" noGrp="1"/>
          </p:cNvSpPr>
          <p:nvPr/>
        </p:nvSpPr>
        <p:spPr>
          <a:xfrm xmlns:a="http://schemas.openxmlformats.org/drawingml/2006/main">
            <a:off x="552450" y="3619500"/>
            <a:ext cx="365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Take the arithmetic mean for each stat. Omit missing follow-up seasons.</a:t>
            </a:r>
          </a:p>
        </p:txBody>
      </p:sp>
      <p:sp>
        <p:nvSpPr>
          <p:cNvPr id="12" name="">
            <a:extLst xmlns:a="http://schemas.openxmlformats.org/drawingml/2006/main">
              <a:ext uri="{FF2B5EF4-FFF2-40B4-BE49-F238E27FC236}">
                <a16:creationId xmlns:a16="http://schemas.microsoft.com/office/drawing/2014/main" id="{3C3A2300-2E34-4822-8094-5A1216F752F7}"/>
              </a:ext>
            </a:extLst>
          </p:cNvPr>
          <p:cNvSpPr>
            <a:spLocks xmlns:a="http://schemas.openxmlformats.org/drawingml/2006/main" noGrp="1"/>
          </p:cNvSpPr>
          <p:nvPr/>
        </p:nvSpPr>
        <p:spPr>
          <a:xfrm xmlns:a="http://schemas.openxmlformats.org/drawingml/2006/main">
            <a:off x="4762500" y="1095375"/>
            <a:ext cx="3924300" cy="2019300"/>
          </a:xfrm>
          <a:prstGeom xmlns:a="http://schemas.openxmlformats.org/drawingml/2006/main" prst="roundRect">
            <a:avLst>
              <a:gd name="adj" fmla="val 3774"/>
            </a:avLst>
          </a:prstGeom>
          <a:solidFill xmlns:a="http://schemas.openxmlformats.org/drawingml/2006/main">
            <a:srgbClr val="E9F3F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6BE1AD-38DB-431E-BCC1-BDCF03273976}"/>
              </a:ext>
            </a:extLst>
          </p:cNvPr>
          <p:cNvSpPr>
            <a:spLocks xmlns:a="http://schemas.openxmlformats.org/drawingml/2006/main" noGrp="1"/>
          </p:cNvSpPr>
          <p:nvPr/>
        </p:nvSpPr>
        <p:spPr>
          <a:xfrm xmlns:a="http://schemas.openxmlformats.org/drawingml/2006/main">
            <a:off x="4991100" y="1323975"/>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Prototype report</a:t>
            </a:r>
          </a:p>
        </p:txBody>
      </p:sp>
      <p:sp>
        <p:nvSpPr>
          <p:cNvPr id="14" name="">
            <a:extLst xmlns:a="http://schemas.openxmlformats.org/drawingml/2006/main">
              <a:ext uri="{FF2B5EF4-FFF2-40B4-BE49-F238E27FC236}">
                <a16:creationId xmlns:a16="http://schemas.microsoft.com/office/drawing/2014/main" id="{A9484077-F9B8-47B8-A733-20A81C178544}"/>
              </a:ext>
            </a:extLst>
          </p:cNvPr>
          <p:cNvSpPr>
            <a:spLocks xmlns:a="http://schemas.openxmlformats.org/drawingml/2006/main" noGrp="1"/>
          </p:cNvSpPr>
          <p:nvPr/>
        </p:nvSpPr>
        <p:spPr>
          <a:xfrm xmlns:a="http://schemas.openxmlformats.org/drawingml/2006/main">
            <a:off x="4991100" y="1933575"/>
            <a:ext cx="3467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Show five matches and their stats.</a:t>
            </a:r>
          </a:p>
          <a:p xmlns:a="http://schemas.openxmlformats.org/drawingml/2006/main">
            <a:pPr algn="l">
              <a:defRPr sz="1150" b="0">
                <a:solidFill>
                  <a:srgbClr val="071B2D"/>
                </a:solidFill>
                <a:latin typeface="Arial"/>
                <a:ea typeface="Arial"/>
                <a:cs typeface="Arial"/>
              </a:defRPr>
            </a:pPr>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Compare current-season stats with the next-season outlook.</a:t>
            </a:r>
          </a:p>
          <a:p xmlns:a="http://schemas.openxmlformats.org/drawingml/2006/main">
            <a:pPr algn="l">
              <a:defRPr sz="1150" b="0">
                <a:solidFill>
                  <a:srgbClr val="071B2D"/>
                </a:solidFill>
                <a:latin typeface="Arial"/>
                <a:ea typeface="Arial"/>
                <a:cs typeface="Arial"/>
              </a:defRPr>
            </a:pPr>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Display the ranked distance graph and stat changes.</a:t>
            </a:r>
          </a:p>
        </p:txBody>
      </p:sp>
      <p:sp>
        <p:nvSpPr>
          <p:cNvPr id="15" name="">
            <a:extLst xmlns:a="http://schemas.openxmlformats.org/drawingml/2006/main">
              <a:ext uri="{FF2B5EF4-FFF2-40B4-BE49-F238E27FC236}">
                <a16:creationId xmlns:a16="http://schemas.microsoft.com/office/drawing/2014/main" id="{F6745B67-B9CD-43A0-842F-DD279C350812}"/>
              </a:ext>
            </a:extLst>
          </p:cNvPr>
          <p:cNvSpPr>
            <a:spLocks xmlns:a="http://schemas.openxmlformats.org/drawingml/2006/main" noGrp="1"/>
          </p:cNvSpPr>
          <p:nvPr/>
        </p:nvSpPr>
        <p:spPr>
          <a:xfrm xmlns:a="http://schemas.openxmlformats.org/drawingml/2006/main">
            <a:off x="4857750" y="33718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Early observations</a:t>
            </a:r>
          </a:p>
        </p:txBody>
      </p:sp>
      <p:sp>
        <p:nvSpPr>
          <p:cNvPr id="16" name="">
            <a:extLst xmlns:a="http://schemas.openxmlformats.org/drawingml/2006/main">
              <a:ext uri="{FF2B5EF4-FFF2-40B4-BE49-F238E27FC236}">
                <a16:creationId xmlns:a16="http://schemas.microsoft.com/office/drawing/2014/main" id="{7D2B7F2D-A0C1-425E-8210-C3E212A18AC6}"/>
              </a:ext>
            </a:extLst>
          </p:cNvPr>
          <p:cNvSpPr>
            <a:spLocks xmlns:a="http://schemas.openxmlformats.org/drawingml/2006/main" noGrp="1"/>
          </p:cNvSpPr>
          <p:nvPr/>
        </p:nvSpPr>
        <p:spPr>
          <a:xfrm xmlns:a="http://schemas.openxmlformats.org/drawingml/2006/main">
            <a:off x="4857750" y="3705225"/>
            <a:ext cx="3638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Common profiles can produce plausible comparisons. Forecast accuracy still needs a check against observed later seasons.</a:t>
            </a:r>
          </a:p>
        </p:txBody>
      </p:sp>
    </p:spTree>
    <p:extLst>
      <p:ext uri="{BB962C8B-B14F-4D97-AF65-F5344CB8AC3E}">
        <p14:creationId xmlns:p14="http://schemas.microsoft.com/office/powerpoint/2010/main" val="450337586"/>
      </p:ext>
    </p:extLst>
  </p:cSld>
</p:sld>
</file>

<file path=ppt/slides/slide5.xml><?xml version="1.0" encoding="utf-8"?>
<p:sld xmlns:p="http://schemas.openxmlformats.org/presentationml/2006/main">
  <p:cSld>
    <p:bg>
      <p:bgPr>
        <a:solidFill xmlns:a="http://schemas.openxmlformats.org/drawingml/2006/main">
          <a:srgbClr val="05356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39B465-0E05-42F4-A687-6290CAA599BC}"/>
              </a:ext>
            </a:extLst>
          </p:cNvPr>
          <p:cNvSpPr>
            <a:spLocks xmlns:a="http://schemas.openxmlformats.org/drawingml/2006/main" noGrp="1"/>
          </p:cNvSpPr>
          <p:nvPr/>
        </p:nvSpPr>
        <p:spPr>
          <a:xfrm xmlns:a="http://schemas.openxmlformats.org/drawingml/2006/main">
            <a:off x="1143000" y="209550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1">
                <a:solidFill>
                  <a:srgbClr val="F6FCCB"/>
                </a:solidFill>
                <a:latin typeface="Arial"/>
                <a:ea typeface="Arial"/>
                <a:cs typeface="Arial"/>
              </a:defRPr>
            </a:defPPr>
            <a:lvl1pPr algn="ctr">
              <a:defRPr sz="2850" b="1">
                <a:solidFill>
                  <a:srgbClr val="F6FCCB"/>
                </a:solidFill>
                <a:latin typeface="Arial"/>
                <a:ea typeface="Arial"/>
                <a:cs typeface="Arial"/>
              </a:defRPr>
            </a:lvl1pPr>
            <a:lvl2pPr algn="ctr">
              <a:defRPr sz="2850" b="1">
                <a:solidFill>
                  <a:srgbClr val="F6FCCB"/>
                </a:solidFill>
                <a:latin typeface="Arial"/>
                <a:ea typeface="Arial"/>
                <a:cs typeface="Arial"/>
              </a:defRPr>
            </a:lvl2pPr>
            <a:lvl3pPr algn="ctr">
              <a:defRPr sz="2850" b="1">
                <a:solidFill>
                  <a:srgbClr val="F6FCCB"/>
                </a:solidFill>
                <a:latin typeface="Arial"/>
                <a:ea typeface="Arial"/>
                <a:cs typeface="Arial"/>
              </a:defRPr>
            </a:lvl3pPr>
            <a:lvl4pPr algn="ctr">
              <a:defRPr sz="2850" b="1">
                <a:solidFill>
                  <a:srgbClr val="F6FCCB"/>
                </a:solidFill>
                <a:latin typeface="Arial"/>
                <a:ea typeface="Arial"/>
                <a:cs typeface="Arial"/>
              </a:defRPr>
            </a:lvl4pPr>
            <a:lvl5pPr algn="ctr">
              <a:defRPr sz="2850" b="1">
                <a:solidFill>
                  <a:srgbClr val="F6FCCB"/>
                </a:solidFill>
                <a:latin typeface="Arial"/>
                <a:ea typeface="Arial"/>
                <a:cs typeface="Arial"/>
              </a:defRPr>
            </a:lvl5pPr>
            <a:lvl6pPr algn="ctr">
              <a:defRPr sz="2850" b="1">
                <a:solidFill>
                  <a:srgbClr val="F6FCCB"/>
                </a:solidFill>
                <a:latin typeface="Arial"/>
                <a:ea typeface="Arial"/>
                <a:cs typeface="Arial"/>
              </a:defRPr>
            </a:lvl6pPr>
            <a:lvl7pPr algn="ctr">
              <a:defRPr sz="2850" b="1">
                <a:solidFill>
                  <a:srgbClr val="F6FCCB"/>
                </a:solidFill>
                <a:latin typeface="Arial"/>
                <a:ea typeface="Arial"/>
                <a:cs typeface="Arial"/>
              </a:defRPr>
            </a:lvl7pPr>
            <a:lvl8pPr algn="ctr">
              <a:defRPr sz="2850" b="1">
                <a:solidFill>
                  <a:srgbClr val="F6FCCB"/>
                </a:solidFill>
                <a:latin typeface="Arial"/>
                <a:ea typeface="Arial"/>
                <a:cs typeface="Arial"/>
              </a:defRPr>
            </a:lvl8pPr>
            <a:lvl9pPr algn="ctr">
              <a:defRPr sz="2850" b="1">
                <a:solidFill>
                  <a:srgbClr val="F6FCCB"/>
                </a:solidFill>
                <a:latin typeface="Arial"/>
                <a:ea typeface="Arial"/>
                <a:cs typeface="Arial"/>
              </a:defRPr>
            </a:lvl9pPr>
          </a:lstStyle>
          <a:p xmlns:a="http://schemas.openxmlformats.org/drawingml/2006/main">
            <a:pPr algn="ctr">
              <a:defRPr sz="2850" b="1">
                <a:solidFill>
                  <a:srgbClr val="F6FCCB"/>
                </a:solidFill>
                <a:latin typeface="Arial"/>
                <a:ea typeface="Arial"/>
                <a:cs typeface="Arial"/>
              </a:defRPr>
            </a:pPr>
            <a:r>
              <a:rPr sz="2850" b="1">
                <a:solidFill>
                  <a:srgbClr val="F6FCCB"/>
                </a:solidFill>
                <a:latin typeface="Arial"/>
                <a:ea typeface="Arial"/>
                <a:cs typeface="Arial"/>
              </a:rPr>
              <a:t>Prototype demo</a:t>
            </a:r>
          </a:p>
        </p:txBody>
      </p:sp>
    </p:spTree>
    <p:extLst>
      <p:ext uri="{BB962C8B-B14F-4D97-AF65-F5344CB8AC3E}">
        <p14:creationId xmlns:p14="http://schemas.microsoft.com/office/powerpoint/2010/main" val="56999833"/>
      </p:ext>
    </p:extLst>
  </p:cSld>
</p:sld>
</file>

<file path=ppt/slides/slide6.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38873F-1FE6-4942-B040-8810735E759D}"/>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Challenges and decisions still ahead</a:t>
            </a:r>
          </a:p>
        </p:txBody>
      </p:sp>
      <p:sp>
        <p:nvSpPr>
          <p:cNvPr id="3" name="">
            <a:extLst xmlns:a="http://schemas.openxmlformats.org/drawingml/2006/main">
              <a:ext uri="{FF2B5EF4-FFF2-40B4-BE49-F238E27FC236}">
                <a16:creationId xmlns:a16="http://schemas.microsoft.com/office/drawing/2014/main" id="{22A8254A-390C-4888-833E-295A02783397}"/>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C34041F-A5D3-4E2D-9AC2-DE537F8E1AC6}"/>
              </a:ext>
            </a:extLst>
          </p:cNvPr>
          <p:cNvSpPr>
            <a:spLocks xmlns:a="http://schemas.openxmlformats.org/drawingml/2006/main" noGrp="1"/>
          </p:cNvSpPr>
          <p:nvPr/>
        </p:nvSpPr>
        <p:spPr>
          <a:xfrm xmlns:a="http://schemas.openxmlformats.org/drawingml/2006/main">
            <a:off x="457200" y="1143000"/>
            <a:ext cx="2628900" cy="333375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A7E423-7269-400B-888A-48271575644E}"/>
              </a:ext>
            </a:extLst>
          </p:cNvPr>
          <p:cNvSpPr>
            <a:spLocks xmlns:a="http://schemas.openxmlformats.org/drawingml/2006/main" noGrp="1"/>
          </p:cNvSpPr>
          <p:nvPr/>
        </p:nvSpPr>
        <p:spPr>
          <a:xfrm xmlns:a="http://schemas.openxmlformats.org/drawingml/2006/main">
            <a:off x="68580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Weights and feature selection</a:t>
            </a:r>
          </a:p>
        </p:txBody>
      </p:sp>
      <p:sp>
        <p:nvSpPr>
          <p:cNvPr id="6" name="">
            <a:extLst xmlns:a="http://schemas.openxmlformats.org/drawingml/2006/main">
              <a:ext uri="{FF2B5EF4-FFF2-40B4-BE49-F238E27FC236}">
                <a16:creationId xmlns:a16="http://schemas.microsoft.com/office/drawing/2014/main" id="{00CE6C9B-72F0-454E-B8FB-5AA6ABFC0D06}"/>
              </a:ext>
            </a:extLst>
          </p:cNvPr>
          <p:cNvSpPr>
            <a:spLocks xmlns:a="http://schemas.openxmlformats.org/drawingml/2006/main" noGrp="1"/>
          </p:cNvSpPr>
          <p:nvPr/>
        </p:nvSpPr>
        <p:spPr>
          <a:xfrm xmlns:a="http://schemas.openxmlformats.org/drawingml/2006/main">
            <a:off x="685800" y="1981200"/>
            <a:ext cx="21717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Equal weights gave us a starting point.</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Next, remove overlapping features and test lower or higher weights.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Compare prediction error on earlier seasons.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Use Ridge Regression as a separate benchmark with learned coefficients.</a:t>
            </a:r>
          </a:p>
        </p:txBody>
      </p:sp>
      <p:sp>
        <p:nvSpPr>
          <p:cNvPr id="7" name="">
            <a:extLst xmlns:a="http://schemas.openxmlformats.org/drawingml/2006/main">
              <a:ext uri="{FF2B5EF4-FFF2-40B4-BE49-F238E27FC236}">
                <a16:creationId xmlns:a16="http://schemas.microsoft.com/office/drawing/2014/main" id="{908253FD-B451-4DCD-A0BD-725D6A9B4EA6}"/>
              </a:ext>
            </a:extLst>
          </p:cNvPr>
          <p:cNvSpPr>
            <a:spLocks xmlns:a="http://schemas.openxmlformats.org/drawingml/2006/main" noGrp="1"/>
          </p:cNvSpPr>
          <p:nvPr/>
        </p:nvSpPr>
        <p:spPr>
          <a:xfrm xmlns:a="http://schemas.openxmlformats.org/drawingml/2006/main">
            <a:off x="3257550" y="1143000"/>
            <a:ext cx="2628900" cy="333375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828823-C014-4F40-A7C6-13F6EA446E3D}"/>
              </a:ext>
            </a:extLst>
          </p:cNvPr>
          <p:cNvSpPr>
            <a:spLocks xmlns:a="http://schemas.openxmlformats.org/drawingml/2006/main" noGrp="1"/>
          </p:cNvSpPr>
          <p:nvPr/>
        </p:nvSpPr>
        <p:spPr>
          <a:xfrm xmlns:a="http://schemas.openxmlformats.org/drawingml/2006/main">
            <a:off x="348615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Very distinctive players</a:t>
            </a:r>
          </a:p>
        </p:txBody>
      </p:sp>
      <p:sp>
        <p:nvSpPr>
          <p:cNvPr id="9" name="">
            <a:extLst xmlns:a="http://schemas.openxmlformats.org/drawingml/2006/main">
              <a:ext uri="{FF2B5EF4-FFF2-40B4-BE49-F238E27FC236}">
                <a16:creationId xmlns:a16="http://schemas.microsoft.com/office/drawing/2014/main" id="{BE1915F6-8C91-44F8-8209-072715B5F083}"/>
              </a:ext>
            </a:extLst>
          </p:cNvPr>
          <p:cNvSpPr>
            <a:spLocks xmlns:a="http://schemas.openxmlformats.org/drawingml/2006/main" noGrp="1"/>
          </p:cNvSpPr>
          <p:nvPr/>
        </p:nvSpPr>
        <p:spPr>
          <a:xfrm xmlns:a="http://schemas.openxmlformats.org/drawingml/2006/main">
            <a:off x="3486150" y="1981200"/>
            <a:ext cx="21717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Even the closest profiles may be a weak match for an exceptional player.</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Averaging lower-output neighbors can pull the outlook down.</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Explore the player’s current level and past two-season trend. Test whether this improves forecasts without forcing growth.</a:t>
            </a:r>
          </a:p>
        </p:txBody>
      </p:sp>
      <p:sp>
        <p:nvSpPr>
          <p:cNvPr id="10" name="">
            <a:extLst xmlns:a="http://schemas.openxmlformats.org/drawingml/2006/main">
              <a:ext uri="{FF2B5EF4-FFF2-40B4-BE49-F238E27FC236}">
                <a16:creationId xmlns:a16="http://schemas.microsoft.com/office/drawing/2014/main" id="{D8BDBB8D-A4FE-4517-9B26-AD3F3DA97D3E}"/>
              </a:ext>
            </a:extLst>
          </p:cNvPr>
          <p:cNvSpPr>
            <a:spLocks xmlns:a="http://schemas.openxmlformats.org/drawingml/2006/main" noGrp="1"/>
          </p:cNvSpPr>
          <p:nvPr/>
        </p:nvSpPr>
        <p:spPr>
          <a:xfrm xmlns:a="http://schemas.openxmlformats.org/drawingml/2006/main">
            <a:off x="6057900" y="1143000"/>
            <a:ext cx="2628900" cy="3333750"/>
          </a:xfrm>
          <a:prstGeom xmlns:a="http://schemas.openxmlformats.org/drawingml/2006/main" prst="roundRect">
            <a:avLst>
              <a:gd name="adj" fmla="val 2899"/>
            </a:avLst>
          </a:prstGeom>
          <a:solidFill xmlns:a="http://schemas.openxmlformats.org/drawingml/2006/main">
            <a:srgbClr val="E9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28E6A3-607B-45C8-900B-389D107DEDBC}"/>
              </a:ext>
            </a:extLst>
          </p:cNvPr>
          <p:cNvSpPr>
            <a:spLocks xmlns:a="http://schemas.openxmlformats.org/drawingml/2006/main" noGrp="1"/>
          </p:cNvSpPr>
          <p:nvPr/>
        </p:nvSpPr>
        <p:spPr>
          <a:xfrm xmlns:a="http://schemas.openxmlformats.org/drawingml/2006/main">
            <a:off x="6286500" y="1371600"/>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Jumpy features</a:t>
            </a:r>
          </a:p>
        </p:txBody>
      </p:sp>
      <p:sp>
        <p:nvSpPr>
          <p:cNvPr id="12" name="">
            <a:extLst xmlns:a="http://schemas.openxmlformats.org/drawingml/2006/main">
              <a:ext uri="{FF2B5EF4-FFF2-40B4-BE49-F238E27FC236}">
                <a16:creationId xmlns:a16="http://schemas.microsoft.com/office/drawing/2014/main" id="{A96C62D5-FD33-4742-A541-360ECDF3618E}"/>
              </a:ext>
            </a:extLst>
          </p:cNvPr>
          <p:cNvSpPr>
            <a:spLocks xmlns:a="http://schemas.openxmlformats.org/drawingml/2006/main" noGrp="1"/>
          </p:cNvSpPr>
          <p:nvPr/>
        </p:nvSpPr>
        <p:spPr>
          <a:xfrm xmlns:a="http://schemas.openxmlformats.org/drawingml/2006/main">
            <a:off x="6286500" y="1981200"/>
            <a:ext cx="21717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Finishing versus expected produces unstable changes in some reports.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Check the formula, minutes and whether a total should become a per-90 rate.</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Small starting values can create huge percentage changes.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Investigate these before tuning.</a:t>
            </a:r>
          </a:p>
        </p:txBody>
      </p:sp>
    </p:spTree>
    <p:extLst>
      <p:ext uri="{BB962C8B-B14F-4D97-AF65-F5344CB8AC3E}">
        <p14:creationId xmlns:p14="http://schemas.microsoft.com/office/powerpoint/2010/main" val="28073520"/>
      </p:ext>
    </p:extLst>
  </p:cSld>
</p:sld>
</file>

<file path=ppt/slides/slide7.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F7C633-A3E6-45D9-B386-F66755A1517B}"/>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Percentile scores: current ability</a:t>
            </a:r>
          </a:p>
        </p:txBody>
      </p:sp>
      <p:sp>
        <p:nvSpPr>
          <p:cNvPr id="3" name="">
            <a:extLst xmlns:a="http://schemas.openxmlformats.org/drawingml/2006/main">
              <a:ext uri="{FF2B5EF4-FFF2-40B4-BE49-F238E27FC236}">
                <a16:creationId xmlns:a16="http://schemas.microsoft.com/office/drawing/2014/main" id="{CAB240A8-6C54-4D64-9E72-D6CF23BFA66D}"/>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5DDABBC-5B95-4205-87E2-D5C83DB5021C}"/>
              </a:ext>
            </a:extLst>
          </p:cNvPr>
          <p:cNvSpPr>
            <a:spLocks xmlns:a="http://schemas.openxmlformats.org/drawingml/2006/main" noGrp="1"/>
          </p:cNvSpPr>
          <p:nvPr/>
        </p:nvSpPr>
        <p:spPr>
          <a:xfrm xmlns:a="http://schemas.openxmlformats.org/drawingml/2006/main">
            <a:off x="457200" y="9620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Reminder: a percentile places a player within a defined comparison group on a 0–100 scale.</a:t>
            </a:r>
          </a:p>
        </p:txBody>
      </p:sp>
      <p:sp>
        <p:nvSpPr>
          <p:cNvPr id="5" name="">
            <a:extLst xmlns:a="http://schemas.openxmlformats.org/drawingml/2006/main">
              <a:ext uri="{FF2B5EF4-FFF2-40B4-BE49-F238E27FC236}">
                <a16:creationId xmlns:a16="http://schemas.microsoft.com/office/drawing/2014/main" id="{0A8C4027-3247-405E-8B40-3013D9AD3D27}"/>
              </a:ext>
            </a:extLst>
          </p:cNvPr>
          <p:cNvSpPr>
            <a:spLocks xmlns:a="http://schemas.openxmlformats.org/drawingml/2006/main" noGrp="1"/>
          </p:cNvSpPr>
          <p:nvPr/>
        </p:nvSpPr>
        <p:spPr>
          <a:xfrm xmlns:a="http://schemas.openxmlformats.org/drawingml/2006/main">
            <a:off x="542925" y="16383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How the ranking works</a:t>
            </a:r>
          </a:p>
        </p:txBody>
      </p:sp>
      <p:sp>
        <p:nvSpPr>
          <p:cNvPr id="6" name="">
            <a:extLst xmlns:a="http://schemas.openxmlformats.org/drawingml/2006/main">
              <a:ext uri="{FF2B5EF4-FFF2-40B4-BE49-F238E27FC236}">
                <a16:creationId xmlns:a16="http://schemas.microsoft.com/office/drawing/2014/main" id="{3E581761-704F-46F1-A789-F5023BAF204A}"/>
              </a:ext>
            </a:extLst>
          </p:cNvPr>
          <p:cNvSpPr>
            <a:spLocks xmlns:a="http://schemas.openxmlformats.org/drawingml/2006/main" noGrp="1"/>
          </p:cNvSpPr>
          <p:nvPr/>
        </p:nvSpPr>
        <p:spPr>
          <a:xfrm xmlns:a="http://schemas.openxmlformats.org/drawingml/2006/main">
            <a:off x="457200" y="1990725"/>
            <a:ext cx="3829050" cy="9525"/>
          </a:xfrm>
          <a:prstGeom xmlns:a="http://schemas.openxmlformats.org/drawingml/2006/main" prst="rect">
            <a:avLst/>
          </a:prstGeom>
          <a:solidFill xmlns:a="http://schemas.openxmlformats.org/drawingml/2006/main">
            <a:srgbClr val="00346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8336DA-9600-464E-85FD-F3017C5AD209}"/>
              </a:ext>
            </a:extLst>
          </p:cNvPr>
          <p:cNvSpPr>
            <a:spLocks xmlns:a="http://schemas.openxmlformats.org/drawingml/2006/main" noGrp="1"/>
          </p:cNvSpPr>
          <p:nvPr/>
        </p:nvSpPr>
        <p:spPr>
          <a:xfrm xmlns:a="http://schemas.openxmlformats.org/drawingml/2006/main">
            <a:off x="552450" y="2200275"/>
            <a:ext cx="3638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Compare players in the same position and season.</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Apply the chosen league and minutes rules.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Convert the relevant stats into percentiles, then combine them using the position’s weights.</a:t>
            </a:r>
          </a:p>
        </p:txBody>
      </p:sp>
      <p:sp>
        <p:nvSpPr>
          <p:cNvPr id="8" name="">
            <a:extLst xmlns:a="http://schemas.openxmlformats.org/drawingml/2006/main">
              <a:ext uri="{FF2B5EF4-FFF2-40B4-BE49-F238E27FC236}">
                <a16:creationId xmlns:a16="http://schemas.microsoft.com/office/drawing/2014/main" id="{541F0FD2-0C47-4613-AC55-F0017B087043}"/>
              </a:ext>
            </a:extLst>
          </p:cNvPr>
          <p:cNvSpPr>
            <a:spLocks xmlns:a="http://schemas.openxmlformats.org/drawingml/2006/main" noGrp="1"/>
          </p:cNvSpPr>
          <p:nvPr/>
        </p:nvSpPr>
        <p:spPr>
          <a:xfrm xmlns:a="http://schemas.openxmlformats.org/drawingml/2006/main">
            <a:off x="4686300" y="1628775"/>
            <a:ext cx="4000500" cy="2495550"/>
          </a:xfrm>
          <a:prstGeom xmlns:a="http://schemas.openxmlformats.org/drawingml/2006/main" prst="roundRect">
            <a:avLst>
              <a:gd name="adj" fmla="val 3053"/>
            </a:avLst>
          </a:prstGeom>
          <a:solidFill xmlns:a="http://schemas.openxmlformats.org/drawingml/2006/main">
            <a:srgbClr val="E9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B82A97-F181-45BE-AE12-8983E6AC2BB1}"/>
              </a:ext>
            </a:extLst>
          </p:cNvPr>
          <p:cNvSpPr>
            <a:spLocks xmlns:a="http://schemas.openxmlformats.org/drawingml/2006/main" noGrp="1"/>
          </p:cNvSpPr>
          <p:nvPr/>
        </p:nvSpPr>
        <p:spPr>
          <a:xfrm xmlns:a="http://schemas.openxmlformats.org/drawingml/2006/main">
            <a:off x="4914900" y="1857375"/>
            <a:ext cx="3543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Stored with the season</a:t>
            </a:r>
          </a:p>
        </p:txBody>
      </p:sp>
      <p:sp>
        <p:nvSpPr>
          <p:cNvPr id="10" name="">
            <a:extLst xmlns:a="http://schemas.openxmlformats.org/drawingml/2006/main">
              <a:ext uri="{FF2B5EF4-FFF2-40B4-BE49-F238E27FC236}">
                <a16:creationId xmlns:a16="http://schemas.microsoft.com/office/drawing/2014/main" id="{436BA3C4-7EA0-436B-A146-AC293A2C0E4B}"/>
              </a:ext>
            </a:extLst>
          </p:cNvPr>
          <p:cNvSpPr>
            <a:spLocks xmlns:a="http://schemas.openxmlformats.org/drawingml/2006/main" noGrp="1"/>
          </p:cNvSpPr>
          <p:nvPr/>
        </p:nvSpPr>
        <p:spPr>
          <a:xfrm xmlns:a="http://schemas.openxmlformats.org/drawingml/2006/main">
            <a:off x="4914900" y="2466975"/>
            <a:ext cx="35433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Save the seasonal ranking as percentile columns in the database.</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The app reads these values rather than recalculating the ranking on every request.</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The ranking stays fixed while the source data, comparison group and scoring rules stay fixed.</a:t>
            </a:r>
          </a:p>
        </p:txBody>
      </p:sp>
      <p:sp>
        <p:nvSpPr>
          <p:cNvPr id="11" name="">
            <a:extLst xmlns:a="http://schemas.openxmlformats.org/drawingml/2006/main">
              <a:ext uri="{FF2B5EF4-FFF2-40B4-BE49-F238E27FC236}">
                <a16:creationId xmlns:a16="http://schemas.microsoft.com/office/drawing/2014/main" id="{1B2F8079-A60E-4F03-A981-939336845A55}"/>
              </a:ext>
            </a:extLst>
          </p:cNvPr>
          <p:cNvSpPr>
            <a:spLocks xmlns:a="http://schemas.openxmlformats.org/drawingml/2006/main" noGrp="1"/>
          </p:cNvSpPr>
          <p:nvPr/>
        </p:nvSpPr>
        <p:spPr>
          <a:xfrm xmlns:a="http://schemas.openxmlformats.org/drawingml/2006/main">
            <a:off x="542925" y="4333875"/>
            <a:ext cx="807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E7484"/>
                </a:solidFill>
                <a:latin typeface="Arial"/>
                <a:ea typeface="Arial"/>
                <a:cs typeface="Arial"/>
              </a:defRPr>
            </a:defPPr>
            <a:lvl1pPr algn="l">
              <a:defRPr sz="1050" b="0">
                <a:solidFill>
                  <a:srgbClr val="5E7484"/>
                </a:solidFill>
                <a:latin typeface="Arial"/>
                <a:ea typeface="Arial"/>
                <a:cs typeface="Arial"/>
              </a:defRPr>
            </a:lvl1pPr>
            <a:lvl2pPr algn="l">
              <a:defRPr sz="1050" b="0">
                <a:solidFill>
                  <a:srgbClr val="5E7484"/>
                </a:solidFill>
                <a:latin typeface="Arial"/>
                <a:ea typeface="Arial"/>
                <a:cs typeface="Arial"/>
              </a:defRPr>
            </a:lvl2pPr>
            <a:lvl3pPr algn="l">
              <a:defRPr sz="1050" b="0">
                <a:solidFill>
                  <a:srgbClr val="5E7484"/>
                </a:solidFill>
                <a:latin typeface="Arial"/>
                <a:ea typeface="Arial"/>
                <a:cs typeface="Arial"/>
              </a:defRPr>
            </a:lvl3pPr>
            <a:lvl4pPr algn="l">
              <a:defRPr sz="1050" b="0">
                <a:solidFill>
                  <a:srgbClr val="5E7484"/>
                </a:solidFill>
                <a:latin typeface="Arial"/>
                <a:ea typeface="Arial"/>
                <a:cs typeface="Arial"/>
              </a:defRPr>
            </a:lvl4pPr>
            <a:lvl5pPr algn="l">
              <a:defRPr sz="1050" b="0">
                <a:solidFill>
                  <a:srgbClr val="5E7484"/>
                </a:solidFill>
                <a:latin typeface="Arial"/>
                <a:ea typeface="Arial"/>
                <a:cs typeface="Arial"/>
              </a:defRPr>
            </a:lvl5pPr>
            <a:lvl6pPr algn="l">
              <a:defRPr sz="1050" b="0">
                <a:solidFill>
                  <a:srgbClr val="5E7484"/>
                </a:solidFill>
                <a:latin typeface="Arial"/>
                <a:ea typeface="Arial"/>
                <a:cs typeface="Arial"/>
              </a:defRPr>
            </a:lvl6pPr>
            <a:lvl7pPr algn="l">
              <a:defRPr sz="1050" b="0">
                <a:solidFill>
                  <a:srgbClr val="5E7484"/>
                </a:solidFill>
                <a:latin typeface="Arial"/>
                <a:ea typeface="Arial"/>
                <a:cs typeface="Arial"/>
              </a:defRPr>
            </a:lvl7pPr>
            <a:lvl8pPr algn="l">
              <a:defRPr sz="1050" b="0">
                <a:solidFill>
                  <a:srgbClr val="5E7484"/>
                </a:solidFill>
                <a:latin typeface="Arial"/>
                <a:ea typeface="Arial"/>
                <a:cs typeface="Arial"/>
              </a:defRPr>
            </a:lvl8pPr>
            <a:lvl9pPr algn="l">
              <a:defRPr sz="1050" b="0">
                <a:solidFill>
                  <a:srgbClr val="5E7484"/>
                </a:solidFill>
                <a:latin typeface="Arial"/>
                <a:ea typeface="Arial"/>
                <a:cs typeface="Arial"/>
              </a:defRPr>
            </a:lvl9pPr>
          </a:lstStyle>
          <a:p xmlns:a="http://schemas.openxmlformats.org/drawingml/2006/main">
            <a:pPr algn="l">
              <a:defRPr sz="1050" b="0">
                <a:solidFill>
                  <a:srgbClr val="5E7484"/>
                </a:solidFill>
                <a:latin typeface="Arial"/>
                <a:ea typeface="Arial"/>
                <a:cs typeface="Arial"/>
              </a:defRPr>
            </a:pPr>
            <a:r>
              <a:rPr sz="1050" b="0">
                <a:solidFill>
                  <a:srgbClr val="5E7484"/>
                </a:solidFill>
                <a:latin typeface="Arial"/>
                <a:ea typeface="Arial"/>
                <a:cs typeface="Arial"/>
              </a:rPr>
              <a:t>Initial review: rankings look broadly reasonable. The next check is whether the feature weights give consistent results.</a:t>
            </a:r>
          </a:p>
        </p:txBody>
      </p:sp>
    </p:spTree>
    <p:extLst>
      <p:ext uri="{BB962C8B-B14F-4D97-AF65-F5344CB8AC3E}">
        <p14:creationId xmlns:p14="http://schemas.microsoft.com/office/powerpoint/2010/main" val="1700845774"/>
      </p:ext>
    </p:extLst>
  </p:cSld>
</p:sld>
</file>

<file path=ppt/slides/slide8.xml><?xml version="1.0" encoding="utf-8"?>
<p:sld xmlns:p="http://schemas.openxmlformats.org/presentationml/2006/main">
  <p:cSld>
    <p:bg>
      <p:bgPr>
        <a:solidFill xmlns:a="http://schemas.openxmlformats.org/drawingml/2006/main">
          <a:srgbClr val="C9E2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487BFD-CF3C-461D-9BF9-3C23DB5B93BE}"/>
              </a:ext>
            </a:extLst>
          </p:cNvPr>
          <p:cNvSpPr>
            <a:spLocks xmlns:a="http://schemas.openxmlformats.org/drawingml/2006/main" noGrp="1"/>
          </p:cNvSpPr>
          <p:nvPr/>
        </p:nvSpPr>
        <p:spPr>
          <a:xfrm xmlns:a="http://schemas.openxmlformats.org/drawingml/2006/main">
            <a:off x="457200" y="4572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Team fit: similarity score</a:t>
            </a:r>
          </a:p>
        </p:txBody>
      </p:sp>
      <p:sp>
        <p:nvSpPr>
          <p:cNvPr id="3" name="">
            <a:extLst xmlns:a="http://schemas.openxmlformats.org/drawingml/2006/main">
              <a:ext uri="{FF2B5EF4-FFF2-40B4-BE49-F238E27FC236}">
                <a16:creationId xmlns:a16="http://schemas.microsoft.com/office/drawing/2014/main" id="{A7125D43-A05E-41FF-AB5E-2A3B16828422}"/>
              </a:ext>
            </a:extLst>
          </p:cNvPr>
          <p:cNvSpPr>
            <a:spLocks xmlns:a="http://schemas.openxmlformats.org/drawingml/2006/main" noGrp="1"/>
          </p:cNvSpPr>
          <p:nvPr/>
        </p:nvSpPr>
        <p:spPr>
          <a:xfrm xmlns:a="http://schemas.openxmlformats.org/drawingml/2006/main">
            <a:off x="8286750" y="46767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AFC3D3"/>
                </a:solidFill>
                <a:latin typeface="Arial"/>
                <a:ea typeface="Arial"/>
                <a:cs typeface="Arial"/>
              </a:defRPr>
            </a:defPPr>
            <a:lvl1pPr algn="l">
              <a:defRPr sz="700" b="0">
                <a:solidFill>
                  <a:srgbClr val="AFC3D3"/>
                </a:solidFill>
                <a:latin typeface="Arial"/>
                <a:ea typeface="Arial"/>
                <a:cs typeface="Arial"/>
              </a:defRPr>
            </a:lvl1pPr>
            <a:lvl2pPr algn="l">
              <a:defRPr sz="700" b="0">
                <a:solidFill>
                  <a:srgbClr val="AFC3D3"/>
                </a:solidFill>
                <a:latin typeface="Arial"/>
                <a:ea typeface="Arial"/>
                <a:cs typeface="Arial"/>
              </a:defRPr>
            </a:lvl2pPr>
            <a:lvl3pPr algn="l">
              <a:defRPr sz="700" b="0">
                <a:solidFill>
                  <a:srgbClr val="AFC3D3"/>
                </a:solidFill>
                <a:latin typeface="Arial"/>
                <a:ea typeface="Arial"/>
                <a:cs typeface="Arial"/>
              </a:defRPr>
            </a:lvl3pPr>
            <a:lvl4pPr algn="l">
              <a:defRPr sz="700" b="0">
                <a:solidFill>
                  <a:srgbClr val="AFC3D3"/>
                </a:solidFill>
                <a:latin typeface="Arial"/>
                <a:ea typeface="Arial"/>
                <a:cs typeface="Arial"/>
              </a:defRPr>
            </a:lvl4pPr>
            <a:lvl5pPr algn="l">
              <a:defRPr sz="700" b="0">
                <a:solidFill>
                  <a:srgbClr val="AFC3D3"/>
                </a:solidFill>
                <a:latin typeface="Arial"/>
                <a:ea typeface="Arial"/>
                <a:cs typeface="Arial"/>
              </a:defRPr>
            </a:lvl5pPr>
            <a:lvl6pPr algn="l">
              <a:defRPr sz="700" b="0">
                <a:solidFill>
                  <a:srgbClr val="AFC3D3"/>
                </a:solidFill>
                <a:latin typeface="Arial"/>
                <a:ea typeface="Arial"/>
                <a:cs typeface="Arial"/>
              </a:defRPr>
            </a:lvl6pPr>
            <a:lvl7pPr algn="l">
              <a:defRPr sz="700" b="0">
                <a:solidFill>
                  <a:srgbClr val="AFC3D3"/>
                </a:solidFill>
                <a:latin typeface="Arial"/>
                <a:ea typeface="Arial"/>
                <a:cs typeface="Arial"/>
              </a:defRPr>
            </a:lvl7pPr>
            <a:lvl8pPr algn="l">
              <a:defRPr sz="700" b="0">
                <a:solidFill>
                  <a:srgbClr val="AFC3D3"/>
                </a:solidFill>
                <a:latin typeface="Arial"/>
                <a:ea typeface="Arial"/>
                <a:cs typeface="Arial"/>
              </a:defRPr>
            </a:lvl8pPr>
            <a:lvl9pPr algn="l">
              <a:defRPr sz="700" b="0">
                <a:solidFill>
                  <a:srgbClr val="AFC3D3"/>
                </a:solidFill>
                <a:latin typeface="Arial"/>
                <a:ea typeface="Arial"/>
                <a:cs typeface="Arial"/>
              </a:defRPr>
            </a:lvl9pPr>
          </a:lstStyle>
          <a:p xmlns:a="http://schemas.openxmlformats.org/drawingml/2006/main">
            <a:pPr algn="l">
              <a:defRPr sz="700" b="0">
                <a:solidFill>
                  <a:srgbClr val="AFC3D3"/>
                </a:solidFill>
                <a:latin typeface="Arial"/>
                <a:ea typeface="Arial"/>
                <a:cs typeface="Arial"/>
              </a:defRPr>
            </a:pPr>
            <a:r>
              <a:rPr sz="700" b="0">
                <a:solidFill>
                  <a:srgbClr val="AFC3D3"/>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171519B-20AF-4BAE-AC44-0ADDBAF5EEFB}"/>
              </a:ext>
            </a:extLst>
          </p:cNvPr>
          <p:cNvSpPr>
            <a:spLocks xmlns:a="http://schemas.openxmlformats.org/drawingml/2006/main" noGrp="1"/>
          </p:cNvSpPr>
          <p:nvPr/>
        </p:nvSpPr>
        <p:spPr>
          <a:xfrm xmlns:a="http://schemas.openxmlformats.org/drawingml/2006/main">
            <a:off x="457200" y="9334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3469"/>
                </a:solidFill>
                <a:latin typeface="Arial"/>
                <a:ea typeface="Arial"/>
                <a:cs typeface="Arial"/>
              </a:defRPr>
            </a:defPPr>
            <a:lvl1pPr algn="l">
              <a:defRPr sz="1150" b="1">
                <a:solidFill>
                  <a:srgbClr val="003469"/>
                </a:solidFill>
                <a:latin typeface="Arial"/>
                <a:ea typeface="Arial"/>
                <a:cs typeface="Arial"/>
              </a:defRPr>
            </a:lvl1pPr>
            <a:lvl2pPr algn="l">
              <a:defRPr sz="1150" b="1">
                <a:solidFill>
                  <a:srgbClr val="003469"/>
                </a:solidFill>
                <a:latin typeface="Arial"/>
                <a:ea typeface="Arial"/>
                <a:cs typeface="Arial"/>
              </a:defRPr>
            </a:lvl2pPr>
            <a:lvl3pPr algn="l">
              <a:defRPr sz="1150" b="1">
                <a:solidFill>
                  <a:srgbClr val="003469"/>
                </a:solidFill>
                <a:latin typeface="Arial"/>
                <a:ea typeface="Arial"/>
                <a:cs typeface="Arial"/>
              </a:defRPr>
            </a:lvl3pPr>
            <a:lvl4pPr algn="l">
              <a:defRPr sz="1150" b="1">
                <a:solidFill>
                  <a:srgbClr val="003469"/>
                </a:solidFill>
                <a:latin typeface="Arial"/>
                <a:ea typeface="Arial"/>
                <a:cs typeface="Arial"/>
              </a:defRPr>
            </a:lvl4pPr>
            <a:lvl5pPr algn="l">
              <a:defRPr sz="1150" b="1">
                <a:solidFill>
                  <a:srgbClr val="003469"/>
                </a:solidFill>
                <a:latin typeface="Arial"/>
                <a:ea typeface="Arial"/>
                <a:cs typeface="Arial"/>
              </a:defRPr>
            </a:lvl5pPr>
            <a:lvl6pPr algn="l">
              <a:defRPr sz="1150" b="1">
                <a:solidFill>
                  <a:srgbClr val="003469"/>
                </a:solidFill>
                <a:latin typeface="Arial"/>
                <a:ea typeface="Arial"/>
                <a:cs typeface="Arial"/>
              </a:defRPr>
            </a:lvl6pPr>
            <a:lvl7pPr algn="l">
              <a:defRPr sz="1150" b="1">
                <a:solidFill>
                  <a:srgbClr val="003469"/>
                </a:solidFill>
                <a:latin typeface="Arial"/>
                <a:ea typeface="Arial"/>
                <a:cs typeface="Arial"/>
              </a:defRPr>
            </a:lvl7pPr>
            <a:lvl8pPr algn="l">
              <a:defRPr sz="1150" b="1">
                <a:solidFill>
                  <a:srgbClr val="003469"/>
                </a:solidFill>
                <a:latin typeface="Arial"/>
                <a:ea typeface="Arial"/>
                <a:cs typeface="Arial"/>
              </a:defRPr>
            </a:lvl8pPr>
            <a:lvl9pPr algn="l">
              <a:defRPr sz="1150" b="1">
                <a:solidFill>
                  <a:srgbClr val="003469"/>
                </a:solidFill>
                <a:latin typeface="Arial"/>
                <a:ea typeface="Arial"/>
                <a:cs typeface="Arial"/>
              </a:defRPr>
            </a:lvl9pPr>
          </a:lstStyle>
          <a:p xmlns:a="http://schemas.openxmlformats.org/drawingml/2006/main">
            <a:pPr algn="l">
              <a:defRPr sz="1150" b="1">
                <a:solidFill>
                  <a:srgbClr val="003469"/>
                </a:solidFill>
                <a:latin typeface="Arial"/>
                <a:ea typeface="Arial"/>
                <a:cs typeface="Arial"/>
              </a:defRPr>
            </a:pPr>
            <a:r>
              <a:rPr sz="1150" b="1">
                <a:solidFill>
                  <a:srgbClr val="003469"/>
                </a:solidFill>
                <a:latin typeface="Arial"/>
                <a:ea typeface="Arial"/>
                <a:cs typeface="Arial"/>
              </a:rPr>
              <a:t>Draft for team review</a:t>
            </a:r>
          </a:p>
        </p:txBody>
      </p:sp>
      <p:sp>
        <p:nvSpPr>
          <p:cNvPr id="5" name="">
            <a:extLst xmlns:a="http://schemas.openxmlformats.org/drawingml/2006/main">
              <a:ext uri="{FF2B5EF4-FFF2-40B4-BE49-F238E27FC236}">
                <a16:creationId xmlns:a16="http://schemas.microsoft.com/office/drawing/2014/main" id="{BFF09DE8-BBF5-4879-B78C-30C05167860D}"/>
              </a:ext>
            </a:extLst>
          </p:cNvPr>
          <p:cNvSpPr>
            <a:spLocks xmlns:a="http://schemas.openxmlformats.org/drawingml/2006/main" noGrp="1"/>
          </p:cNvSpPr>
          <p:nvPr/>
        </p:nvSpPr>
        <p:spPr>
          <a:xfrm xmlns:a="http://schemas.openxmlformats.org/drawingml/2006/main">
            <a:off x="457200" y="1400175"/>
            <a:ext cx="2628900" cy="2400300"/>
          </a:xfrm>
          <a:prstGeom xmlns:a="http://schemas.openxmlformats.org/drawingml/2006/main" prst="roundRect">
            <a:avLst>
              <a:gd name="adj" fmla="val 3175"/>
            </a:avLst>
          </a:prstGeom>
          <a:solidFill xmlns:a="http://schemas.openxmlformats.org/drawingml/2006/main">
            <a:srgbClr val="E9F3F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AD9EE4-E31D-4457-89E1-30DA4512A768}"/>
              </a:ext>
            </a:extLst>
          </p:cNvPr>
          <p:cNvSpPr>
            <a:spLocks xmlns:a="http://schemas.openxmlformats.org/drawingml/2006/main" noGrp="1"/>
          </p:cNvSpPr>
          <p:nvPr/>
        </p:nvSpPr>
        <p:spPr>
          <a:xfrm xmlns:a="http://schemas.openxmlformats.org/drawingml/2006/main">
            <a:off x="685800" y="1628775"/>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Team style profile</a:t>
            </a:r>
          </a:p>
        </p:txBody>
      </p:sp>
      <p:sp>
        <p:nvSpPr>
          <p:cNvPr id="7" name="">
            <a:extLst xmlns:a="http://schemas.openxmlformats.org/drawingml/2006/main">
              <a:ext uri="{FF2B5EF4-FFF2-40B4-BE49-F238E27FC236}">
                <a16:creationId xmlns:a16="http://schemas.microsoft.com/office/drawing/2014/main" id="{091B93DD-D864-494B-8940-B6BA8A2A1BC2}"/>
              </a:ext>
            </a:extLst>
          </p:cNvPr>
          <p:cNvSpPr>
            <a:spLocks xmlns:a="http://schemas.openxmlformats.org/drawingml/2006/main" noGrp="1"/>
          </p:cNvSpPr>
          <p:nvPr/>
        </p:nvSpPr>
        <p:spPr>
          <a:xfrm xmlns:a="http://schemas.openxmlformats.org/drawingml/2006/main">
            <a:off x="685800" y="2238375"/>
            <a:ext cx="2171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Describe each club with comparable team-level measures.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Examples include PPDA, pressure faced, xG share, territory and xG for or against per match.</a:t>
            </a:r>
          </a:p>
        </p:txBody>
      </p:sp>
      <p:sp>
        <p:nvSpPr>
          <p:cNvPr id="8" name="">
            <a:extLst xmlns:a="http://schemas.openxmlformats.org/drawingml/2006/main">
              <a:ext uri="{FF2B5EF4-FFF2-40B4-BE49-F238E27FC236}">
                <a16:creationId xmlns:a16="http://schemas.microsoft.com/office/drawing/2014/main" id="{D43879C2-3CD3-4472-9F7F-9F41A0627F6C}"/>
              </a:ext>
            </a:extLst>
          </p:cNvPr>
          <p:cNvSpPr>
            <a:spLocks xmlns:a="http://schemas.openxmlformats.org/drawingml/2006/main" noGrp="1"/>
          </p:cNvSpPr>
          <p:nvPr/>
        </p:nvSpPr>
        <p:spPr>
          <a:xfrm xmlns:a="http://schemas.openxmlformats.org/drawingml/2006/main">
            <a:off x="3257550" y="1400175"/>
            <a:ext cx="2628900" cy="2400300"/>
          </a:xfrm>
          <a:prstGeom xmlns:a="http://schemas.openxmlformats.org/drawingml/2006/main" prst="roundRect">
            <a:avLst>
              <a:gd name="adj" fmla="val 3175"/>
            </a:avLst>
          </a:prstGeom>
          <a:solidFill xmlns:a="http://schemas.openxmlformats.org/drawingml/2006/main">
            <a:srgbClr val="E9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E8EA45-FD11-4231-B204-38570637B571}"/>
              </a:ext>
            </a:extLst>
          </p:cNvPr>
          <p:cNvSpPr>
            <a:spLocks xmlns:a="http://schemas.openxmlformats.org/drawingml/2006/main" noGrp="1"/>
          </p:cNvSpPr>
          <p:nvPr/>
        </p:nvSpPr>
        <p:spPr>
          <a:xfrm xmlns:a="http://schemas.openxmlformats.org/drawingml/2006/main">
            <a:off x="3486150" y="1628775"/>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Player’s past environments</a:t>
            </a:r>
          </a:p>
        </p:txBody>
      </p:sp>
      <p:sp>
        <p:nvSpPr>
          <p:cNvPr id="10" name="">
            <a:extLst xmlns:a="http://schemas.openxmlformats.org/drawingml/2006/main">
              <a:ext uri="{FF2B5EF4-FFF2-40B4-BE49-F238E27FC236}">
                <a16:creationId xmlns:a16="http://schemas.microsoft.com/office/drawing/2014/main" id="{8DE06D59-F11F-4F69-8D37-F11A96A58C6C}"/>
              </a:ext>
            </a:extLst>
          </p:cNvPr>
          <p:cNvSpPr>
            <a:spLocks xmlns:a="http://schemas.openxmlformats.org/drawingml/2006/main" noGrp="1"/>
          </p:cNvSpPr>
          <p:nvPr/>
        </p:nvSpPr>
        <p:spPr>
          <a:xfrm xmlns:a="http://schemas.openxmlformats.org/drawingml/2006/main">
            <a:off x="3486150" y="2238375"/>
            <a:ext cx="2171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Build a profile from the teams the player has played for.</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Weight those team environments by the player’s minutes.</a:t>
            </a:r>
          </a:p>
          <a:p xmlns:a="http://schemas.openxmlformats.org/drawingml/2006/main">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Compare this profile with the target club.</a:t>
            </a:r>
          </a:p>
        </p:txBody>
      </p:sp>
      <p:sp>
        <p:nvSpPr>
          <p:cNvPr id="11" name="">
            <a:extLst xmlns:a="http://schemas.openxmlformats.org/drawingml/2006/main">
              <a:ext uri="{FF2B5EF4-FFF2-40B4-BE49-F238E27FC236}">
                <a16:creationId xmlns:a16="http://schemas.microsoft.com/office/drawing/2014/main" id="{C1F5F8F9-CA10-42B9-B59A-A13F8E2B2A70}"/>
              </a:ext>
            </a:extLst>
          </p:cNvPr>
          <p:cNvSpPr>
            <a:spLocks xmlns:a="http://schemas.openxmlformats.org/drawingml/2006/main" noGrp="1"/>
          </p:cNvSpPr>
          <p:nvPr/>
        </p:nvSpPr>
        <p:spPr>
          <a:xfrm xmlns:a="http://schemas.openxmlformats.org/drawingml/2006/main">
            <a:off x="6057900" y="1400175"/>
            <a:ext cx="2628900" cy="2400300"/>
          </a:xfrm>
          <a:prstGeom xmlns:a="http://schemas.openxmlformats.org/drawingml/2006/main" prst="roundRect">
            <a:avLst>
              <a:gd name="adj" fmla="val 3175"/>
            </a:avLst>
          </a:prstGeom>
          <a:solidFill xmlns:a="http://schemas.openxmlformats.org/drawingml/2006/main">
            <a:srgbClr val="E9F3F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00B116-99F5-4DAF-A675-BDAC171EFD10}"/>
              </a:ext>
            </a:extLst>
          </p:cNvPr>
          <p:cNvSpPr>
            <a:spLocks xmlns:a="http://schemas.openxmlformats.org/drawingml/2006/main" noGrp="1"/>
          </p:cNvSpPr>
          <p:nvPr/>
        </p:nvSpPr>
        <p:spPr>
          <a:xfrm xmlns:a="http://schemas.openxmlformats.org/drawingml/2006/main">
            <a:off x="6286500" y="1628775"/>
            <a:ext cx="2171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3469"/>
                </a:solidFill>
                <a:latin typeface="Arial"/>
                <a:ea typeface="Arial"/>
                <a:cs typeface="Arial"/>
              </a:defRPr>
            </a:defPPr>
            <a:lvl1pPr algn="l">
              <a:defRPr sz="1300" b="1">
                <a:solidFill>
                  <a:srgbClr val="003469"/>
                </a:solidFill>
                <a:latin typeface="Arial"/>
                <a:ea typeface="Arial"/>
                <a:cs typeface="Arial"/>
              </a:defRPr>
            </a:lvl1pPr>
            <a:lvl2pPr algn="l">
              <a:defRPr sz="1300" b="1">
                <a:solidFill>
                  <a:srgbClr val="003469"/>
                </a:solidFill>
                <a:latin typeface="Arial"/>
                <a:ea typeface="Arial"/>
                <a:cs typeface="Arial"/>
              </a:defRPr>
            </a:lvl2pPr>
            <a:lvl3pPr algn="l">
              <a:defRPr sz="1300" b="1">
                <a:solidFill>
                  <a:srgbClr val="003469"/>
                </a:solidFill>
                <a:latin typeface="Arial"/>
                <a:ea typeface="Arial"/>
                <a:cs typeface="Arial"/>
              </a:defRPr>
            </a:lvl3pPr>
            <a:lvl4pPr algn="l">
              <a:defRPr sz="1300" b="1">
                <a:solidFill>
                  <a:srgbClr val="003469"/>
                </a:solidFill>
                <a:latin typeface="Arial"/>
                <a:ea typeface="Arial"/>
                <a:cs typeface="Arial"/>
              </a:defRPr>
            </a:lvl4pPr>
            <a:lvl5pPr algn="l">
              <a:defRPr sz="1300" b="1">
                <a:solidFill>
                  <a:srgbClr val="003469"/>
                </a:solidFill>
                <a:latin typeface="Arial"/>
                <a:ea typeface="Arial"/>
                <a:cs typeface="Arial"/>
              </a:defRPr>
            </a:lvl5pPr>
            <a:lvl6pPr algn="l">
              <a:defRPr sz="1300" b="1">
                <a:solidFill>
                  <a:srgbClr val="003469"/>
                </a:solidFill>
                <a:latin typeface="Arial"/>
                <a:ea typeface="Arial"/>
                <a:cs typeface="Arial"/>
              </a:defRPr>
            </a:lvl6pPr>
            <a:lvl7pPr algn="l">
              <a:defRPr sz="1300" b="1">
                <a:solidFill>
                  <a:srgbClr val="003469"/>
                </a:solidFill>
                <a:latin typeface="Arial"/>
                <a:ea typeface="Arial"/>
                <a:cs typeface="Arial"/>
              </a:defRPr>
            </a:lvl7pPr>
            <a:lvl8pPr algn="l">
              <a:defRPr sz="1300" b="1">
                <a:solidFill>
                  <a:srgbClr val="003469"/>
                </a:solidFill>
                <a:latin typeface="Arial"/>
                <a:ea typeface="Arial"/>
                <a:cs typeface="Arial"/>
              </a:defRPr>
            </a:lvl8pPr>
            <a:lvl9pPr algn="l">
              <a:defRPr sz="1300" b="1">
                <a:solidFill>
                  <a:srgbClr val="003469"/>
                </a:solidFill>
                <a:latin typeface="Arial"/>
                <a:ea typeface="Arial"/>
                <a:cs typeface="Arial"/>
              </a:defRPr>
            </a:lvl9pPr>
          </a:lstStyle>
          <a:p xmlns:a="http://schemas.openxmlformats.org/drawingml/2006/main">
            <a:pPr algn="l">
              <a:defRPr sz="1300" b="1">
                <a:solidFill>
                  <a:srgbClr val="003469"/>
                </a:solidFill>
                <a:latin typeface="Arial"/>
                <a:ea typeface="Arial"/>
                <a:cs typeface="Arial"/>
              </a:defRPr>
            </a:pPr>
            <a:r>
              <a:rPr sz="1300" b="1">
                <a:solidFill>
                  <a:srgbClr val="003469"/>
                </a:solidFill>
                <a:latin typeface="Arial"/>
                <a:ea typeface="Arial"/>
                <a:cs typeface="Arial"/>
              </a:rPr>
              <a:t>Fit score and explanation</a:t>
            </a:r>
          </a:p>
        </p:txBody>
      </p:sp>
      <p:sp>
        <p:nvSpPr>
          <p:cNvPr id="13" name="">
            <a:extLst xmlns:a="http://schemas.openxmlformats.org/drawingml/2006/main">
              <a:ext uri="{FF2B5EF4-FFF2-40B4-BE49-F238E27FC236}">
                <a16:creationId xmlns:a16="http://schemas.microsoft.com/office/drawing/2014/main" id="{952F4685-538D-4748-8C49-3E91ADBFC725}"/>
              </a:ext>
            </a:extLst>
          </p:cNvPr>
          <p:cNvSpPr>
            <a:spLocks xmlns:a="http://schemas.openxmlformats.org/drawingml/2006/main" noGrp="1"/>
          </p:cNvSpPr>
          <p:nvPr/>
        </p:nvSpPr>
        <p:spPr>
          <a:xfrm xmlns:a="http://schemas.openxmlformats.org/drawingml/2006/main">
            <a:off x="6286500" y="2238375"/>
            <a:ext cx="2171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71B2D"/>
                </a:solidFill>
                <a:latin typeface="Arial"/>
                <a:ea typeface="Arial"/>
                <a:cs typeface="Arial"/>
              </a:defRPr>
            </a:defPPr>
            <a:lvl1pPr algn="l">
              <a:defRPr sz="1150" b="0">
                <a:solidFill>
                  <a:srgbClr val="071B2D"/>
                </a:solidFill>
                <a:latin typeface="Arial"/>
                <a:ea typeface="Arial"/>
                <a:cs typeface="Arial"/>
              </a:defRPr>
            </a:lvl1pPr>
            <a:lvl2pPr algn="l">
              <a:defRPr sz="1150" b="0">
                <a:solidFill>
                  <a:srgbClr val="071B2D"/>
                </a:solidFill>
                <a:latin typeface="Arial"/>
                <a:ea typeface="Arial"/>
                <a:cs typeface="Arial"/>
              </a:defRPr>
            </a:lvl2pPr>
            <a:lvl3pPr algn="l">
              <a:defRPr sz="1150" b="0">
                <a:solidFill>
                  <a:srgbClr val="071B2D"/>
                </a:solidFill>
                <a:latin typeface="Arial"/>
                <a:ea typeface="Arial"/>
                <a:cs typeface="Arial"/>
              </a:defRPr>
            </a:lvl3pPr>
            <a:lvl4pPr algn="l">
              <a:defRPr sz="1150" b="0">
                <a:solidFill>
                  <a:srgbClr val="071B2D"/>
                </a:solidFill>
                <a:latin typeface="Arial"/>
                <a:ea typeface="Arial"/>
                <a:cs typeface="Arial"/>
              </a:defRPr>
            </a:lvl4pPr>
            <a:lvl5pPr algn="l">
              <a:defRPr sz="1150" b="0">
                <a:solidFill>
                  <a:srgbClr val="071B2D"/>
                </a:solidFill>
                <a:latin typeface="Arial"/>
                <a:ea typeface="Arial"/>
                <a:cs typeface="Arial"/>
              </a:defRPr>
            </a:lvl5pPr>
            <a:lvl6pPr algn="l">
              <a:defRPr sz="1150" b="0">
                <a:solidFill>
                  <a:srgbClr val="071B2D"/>
                </a:solidFill>
                <a:latin typeface="Arial"/>
                <a:ea typeface="Arial"/>
                <a:cs typeface="Arial"/>
              </a:defRPr>
            </a:lvl6pPr>
            <a:lvl7pPr algn="l">
              <a:defRPr sz="1150" b="0">
                <a:solidFill>
                  <a:srgbClr val="071B2D"/>
                </a:solidFill>
                <a:latin typeface="Arial"/>
                <a:ea typeface="Arial"/>
                <a:cs typeface="Arial"/>
              </a:defRPr>
            </a:lvl7pPr>
            <a:lvl8pPr algn="l">
              <a:defRPr sz="1150" b="0">
                <a:solidFill>
                  <a:srgbClr val="071B2D"/>
                </a:solidFill>
                <a:latin typeface="Arial"/>
                <a:ea typeface="Arial"/>
                <a:cs typeface="Arial"/>
              </a:defRPr>
            </a:lvl8pPr>
            <a:lvl9pPr algn="l">
              <a:defRPr sz="1150" b="0">
                <a:solidFill>
                  <a:srgbClr val="071B2D"/>
                </a:solidFill>
                <a:latin typeface="Arial"/>
                <a:ea typeface="Arial"/>
                <a:cs typeface="Arial"/>
              </a:defRPr>
            </a:lvl9pPr>
          </a:lstStyle>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Summarize how closely the team styles match.</a:t>
            </a:r>
          </a:p>
          <a:p xmlns:a="http://schemas.openxmlformats.org/drawingml/2006/main">
            <a:pPr algn="l">
              <a:defRPr sz="1150" b="0">
                <a:solidFill>
                  <a:srgbClr val="071B2D"/>
                </a:solidFill>
                <a:latin typeface="Arial"/>
                <a:ea typeface="Arial"/>
                <a:cs typeface="Arial"/>
              </a:defRPr>
            </a:pPr>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Show the strongest similarities and the main differences.</a:t>
            </a:r>
          </a:p>
          <a:p xmlns:a="http://schemas.openxmlformats.org/drawingml/2006/main">
            <a:pPr algn="l">
              <a:defRPr sz="1150" b="0">
                <a:solidFill>
                  <a:srgbClr val="071B2D"/>
                </a:solidFill>
                <a:latin typeface="Arial"/>
                <a:ea typeface="Arial"/>
                <a:cs typeface="Arial"/>
              </a:defRPr>
            </a:pPr>
            <a:r>
              <a:t/>
            </a:r>
          </a:p>
          <a:p xmlns:a="http://schemas.openxmlformats.org/drawingml/2006/main">
            <a:pPr algn="l">
              <a:defRPr sz="1150" b="0">
                <a:solidFill>
                  <a:srgbClr val="071B2D"/>
                </a:solidFill>
                <a:latin typeface="Arial"/>
                <a:ea typeface="Arial"/>
                <a:cs typeface="Arial"/>
              </a:defRPr>
            </a:pPr>
            <a:r>
              <a:rPr sz="1150" b="0">
                <a:solidFill>
                  <a:srgbClr val="071B2D"/>
                </a:solidFill>
                <a:latin typeface="Arial"/>
                <a:ea typeface="Arial"/>
                <a:cs typeface="Arial"/>
              </a:rPr>
              <a:t>Describe compatibility without claiming transfer success.</a:t>
            </a:r>
          </a:p>
        </p:txBody>
      </p:sp>
      <p:sp>
        <p:nvSpPr>
          <p:cNvPr id="14" name="">
            <a:extLst xmlns:a="http://schemas.openxmlformats.org/drawingml/2006/main">
              <a:ext uri="{FF2B5EF4-FFF2-40B4-BE49-F238E27FC236}">
                <a16:creationId xmlns:a16="http://schemas.microsoft.com/office/drawing/2014/main" id="{85D170D5-A737-4438-9BEF-E45591015F35}"/>
              </a:ext>
            </a:extLst>
          </p:cNvPr>
          <p:cNvSpPr>
            <a:spLocks xmlns:a="http://schemas.openxmlformats.org/drawingml/2006/main" noGrp="1"/>
          </p:cNvSpPr>
          <p:nvPr/>
        </p:nvSpPr>
        <p:spPr>
          <a:xfrm xmlns:a="http://schemas.openxmlformats.org/drawingml/2006/main">
            <a:off x="542925" y="4114800"/>
            <a:ext cx="805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E7484"/>
                </a:solidFill>
                <a:latin typeface="Arial"/>
                <a:ea typeface="Arial"/>
                <a:cs typeface="Arial"/>
              </a:defRPr>
            </a:defPPr>
            <a:lvl1pPr algn="l">
              <a:defRPr sz="1050" b="0">
                <a:solidFill>
                  <a:srgbClr val="5E7484"/>
                </a:solidFill>
                <a:latin typeface="Arial"/>
                <a:ea typeface="Arial"/>
                <a:cs typeface="Arial"/>
              </a:defRPr>
            </a:lvl1pPr>
            <a:lvl2pPr algn="l">
              <a:defRPr sz="1050" b="0">
                <a:solidFill>
                  <a:srgbClr val="5E7484"/>
                </a:solidFill>
                <a:latin typeface="Arial"/>
                <a:ea typeface="Arial"/>
                <a:cs typeface="Arial"/>
              </a:defRPr>
            </a:lvl2pPr>
            <a:lvl3pPr algn="l">
              <a:defRPr sz="1050" b="0">
                <a:solidFill>
                  <a:srgbClr val="5E7484"/>
                </a:solidFill>
                <a:latin typeface="Arial"/>
                <a:ea typeface="Arial"/>
                <a:cs typeface="Arial"/>
              </a:defRPr>
            </a:lvl3pPr>
            <a:lvl4pPr algn="l">
              <a:defRPr sz="1050" b="0">
                <a:solidFill>
                  <a:srgbClr val="5E7484"/>
                </a:solidFill>
                <a:latin typeface="Arial"/>
                <a:ea typeface="Arial"/>
                <a:cs typeface="Arial"/>
              </a:defRPr>
            </a:lvl4pPr>
            <a:lvl5pPr algn="l">
              <a:defRPr sz="1050" b="0">
                <a:solidFill>
                  <a:srgbClr val="5E7484"/>
                </a:solidFill>
                <a:latin typeface="Arial"/>
                <a:ea typeface="Arial"/>
                <a:cs typeface="Arial"/>
              </a:defRPr>
            </a:lvl5pPr>
            <a:lvl6pPr algn="l">
              <a:defRPr sz="1050" b="0">
                <a:solidFill>
                  <a:srgbClr val="5E7484"/>
                </a:solidFill>
                <a:latin typeface="Arial"/>
                <a:ea typeface="Arial"/>
                <a:cs typeface="Arial"/>
              </a:defRPr>
            </a:lvl6pPr>
            <a:lvl7pPr algn="l">
              <a:defRPr sz="1050" b="0">
                <a:solidFill>
                  <a:srgbClr val="5E7484"/>
                </a:solidFill>
                <a:latin typeface="Arial"/>
                <a:ea typeface="Arial"/>
                <a:cs typeface="Arial"/>
              </a:defRPr>
            </a:lvl7pPr>
            <a:lvl8pPr algn="l">
              <a:defRPr sz="1050" b="0">
                <a:solidFill>
                  <a:srgbClr val="5E7484"/>
                </a:solidFill>
                <a:latin typeface="Arial"/>
                <a:ea typeface="Arial"/>
                <a:cs typeface="Arial"/>
              </a:defRPr>
            </a:lvl8pPr>
            <a:lvl9pPr algn="l">
              <a:defRPr sz="1050" b="0">
                <a:solidFill>
                  <a:srgbClr val="5E7484"/>
                </a:solidFill>
                <a:latin typeface="Arial"/>
                <a:ea typeface="Arial"/>
                <a:cs typeface="Arial"/>
              </a:defRPr>
            </a:lvl9pPr>
          </a:lstStyle>
          <a:p xmlns:a="http://schemas.openxmlformats.org/drawingml/2006/main">
            <a:pPr algn="l">
              <a:defRPr sz="1050" b="0">
                <a:solidFill>
                  <a:srgbClr val="5E7484"/>
                </a:solidFill>
                <a:latin typeface="Arial"/>
                <a:ea typeface="Arial"/>
                <a:cs typeface="Arial"/>
              </a:defRPr>
            </a:pPr>
            <a:r>
              <a:rPr sz="1050" b="0">
                <a:solidFill>
                  <a:srgbClr val="5E7484"/>
                </a:solidFill>
                <a:latin typeface="Arial"/>
                <a:ea typeface="Arial"/>
                <a:cs typeface="Arial"/>
              </a:rPr>
              <a:t>To confirm with the team: implemented features, scaling, similarity formula, formation handling and example results.</a:t>
            </a:r>
          </a:p>
        </p:txBody>
      </p:sp>
    </p:spTree>
    <p:extLst>
      <p:ext uri="{BB962C8B-B14F-4D97-AF65-F5344CB8AC3E}">
        <p14:creationId xmlns:p14="http://schemas.microsoft.com/office/powerpoint/2010/main" val="100467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2026-10-21T17:04:37.5780000Z</dcterms:created>
  <dcterms:modified xsi:type="dcterms:W3CDTF">2026-10-21T17:04:37.5780000Z</dcterms:modified>
</coreProperties>
</file>